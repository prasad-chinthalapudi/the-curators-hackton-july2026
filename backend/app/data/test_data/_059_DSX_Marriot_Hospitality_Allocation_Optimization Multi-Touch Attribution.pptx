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14747090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4" autoAdjust="0"/>
    <p:restoredTop sz="94718"/>
  </p:normalViewPr>
  <p:slideViewPr>
    <p:cSldViewPr snapToGrid="0">
      <p:cViewPr varScale="1">
        <p:scale>
          <a:sx n="150" d="100"/>
          <a:sy n="150" d="100"/>
        </p:scale>
        <p:origin x="4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Tiwari" userId="35c1226f-49eb-4d13-9444-c0a40644733e" providerId="ADAL" clId="{3348082F-28A3-46E0-9625-42BBD4F37426}"/>
    <pc:docChg chg="modSld">
      <pc:chgData name="Shashank Tiwari" userId="35c1226f-49eb-4d13-9444-c0a40644733e" providerId="ADAL" clId="{3348082F-28A3-46E0-9625-42BBD4F37426}" dt="2026-07-16T08:53:55.150" v="1" actId="14100"/>
      <pc:docMkLst>
        <pc:docMk/>
      </pc:docMkLst>
      <pc:sldChg chg="modSp mod">
        <pc:chgData name="Shashank Tiwari" userId="35c1226f-49eb-4d13-9444-c0a40644733e" providerId="ADAL" clId="{3348082F-28A3-46E0-9625-42BBD4F37426}" dt="2026-07-16T08:53:55.150" v="1" actId="14100"/>
        <pc:sldMkLst>
          <pc:docMk/>
          <pc:sldMk cId="2615183262" sldId="2147470903"/>
        </pc:sldMkLst>
        <pc:picChg chg="mod">
          <ac:chgData name="Shashank Tiwari" userId="35c1226f-49eb-4d13-9444-c0a40644733e" providerId="ADAL" clId="{3348082F-28A3-46E0-9625-42BBD4F37426}" dt="2026-07-16T08:53:55.150" v="1" actId="14100"/>
          <ac:picMkLst>
            <pc:docMk/>
            <pc:sldMk cId="2615183262" sldId="2147470903"/>
            <ac:picMk id="5" creationId="{FE186A38-A985-A300-6B0A-D2652908D9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9FB5B-17C9-8E44-A472-E401340FF681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E8998-DA6B-A84E-997C-51E9BB4D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tx1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tx1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tx1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tx1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tx1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tx1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tx1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655962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900211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82EF19E0-0049-FE37-057B-D47006AC54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413" y="430319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5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1197388" y="6278962"/>
            <a:ext cx="2394775" cy="1347236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923FFA-63D8-6AA1-0B42-302CD3657F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413" y="441141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4169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F6A3EBBB-0FC3-1672-399E-72EFAED6CD53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accent4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accent4"/>
              </a:solidFill>
              <a:latin typeface="PP Telegraf" pitchFamily="2" charset="77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6A14AE1-2BFA-E815-4CC5-672DB37E9A9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313" y="6434682"/>
            <a:ext cx="427597" cy="28829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032DE-ED80-88D4-B2BE-07C067D3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5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4109D-D67B-DB48-2DCA-7F16D47F3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58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6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08" r:id="rId4"/>
  </p:sldLayoutIdLst>
  <p:txStyles>
    <p:titleStyle>
      <a:lvl1pPr algn="l" defTabSz="913974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94" indent="-228494" algn="l" defTabSz="91397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47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481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480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466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50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492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47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467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86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74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1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48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31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47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60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46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42">
          <p15:clr>
            <a:srgbClr val="F26B43"/>
          </p15:clr>
        </p15:guide>
        <p15:guide id="2" pos="280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CB4DB96-4AA9-8C64-014C-63F096F71DBF}"/>
              </a:ext>
            </a:extLst>
          </p:cNvPr>
          <p:cNvGrpSpPr/>
          <p:nvPr/>
        </p:nvGrpSpPr>
        <p:grpSpPr>
          <a:xfrm>
            <a:off x="7671126" y="2411759"/>
            <a:ext cx="3984424" cy="961720"/>
            <a:chOff x="7671126" y="1309015"/>
            <a:chExt cx="3984424" cy="96172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42AAF10-13B3-A9D4-5A06-48584302E551}"/>
                </a:ext>
              </a:extLst>
            </p:cNvPr>
            <p:cNvSpPr/>
            <p:nvPr/>
          </p:nvSpPr>
          <p:spPr>
            <a:xfrm>
              <a:off x="7671126" y="1309015"/>
              <a:ext cx="3984424" cy="96172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CB3FE7D-0A2B-EFC6-EAEB-DE8BD79BA486}"/>
                </a:ext>
              </a:extLst>
            </p:cNvPr>
            <p:cNvSpPr txBox="1"/>
            <p:nvPr/>
          </p:nvSpPr>
          <p:spPr>
            <a:xfrm>
              <a:off x="8031751" y="1635988"/>
              <a:ext cx="32631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algn="ctr" defTabSz="9140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SzTx/>
                <a:tabLst/>
                <a:defRPr/>
              </a:pPr>
              <a:r>
                <a:rPr lang="en-US" sz="1000" i="0" kern="1200" noProof="0" dirty="0">
                  <a:solidFill>
                    <a:schemeClr val="accent2"/>
                  </a:solidFill>
                  <a:effectLst/>
                  <a:latin typeface="PP Telegraf" pitchFamily="2" charset="77"/>
                  <a:ea typeface="+mn-ea"/>
                  <a:cs typeface="+mn-cs"/>
                </a:rPr>
                <a:t>5% </a:t>
              </a:r>
              <a:r>
                <a:rPr lang="en-US" sz="1000" i="0" kern="1200" noProof="0" dirty="0">
                  <a:effectLst/>
                  <a:latin typeface="PP Telegraf" pitchFamily="2" charset="77"/>
                  <a:ea typeface="+mn-ea"/>
                  <a:cs typeface="+mn-cs"/>
                </a:rPr>
                <a:t>increase in conversions with optimal redistribution of spend and decreasing cost per booking by </a:t>
              </a:r>
              <a:r>
                <a:rPr lang="en-US" sz="1000" i="0" kern="1200" noProof="0" dirty="0">
                  <a:solidFill>
                    <a:schemeClr val="accent2"/>
                  </a:solidFill>
                  <a:effectLst/>
                  <a:latin typeface="PP Telegraf" pitchFamily="2" charset="77"/>
                  <a:ea typeface="+mn-ea"/>
                  <a:cs typeface="+mn-cs"/>
                </a:rPr>
                <a:t>2%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A3B5533-77EF-50FF-FA8D-8E970A16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2662682" cy="2326791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Hospitality - Allocation Optimization </a:t>
            </a:r>
            <a:br>
              <a:rPr lang="en-US" dirty="0"/>
            </a:br>
            <a:r>
              <a:rPr lang="en-US" dirty="0"/>
              <a:t>with Multi-Touch Attribution 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DE0436-EF8D-1200-0AF5-F999378C390D}"/>
              </a:ext>
            </a:extLst>
          </p:cNvPr>
          <p:cNvCxnSpPr/>
          <p:nvPr/>
        </p:nvCxnSpPr>
        <p:spPr>
          <a:xfrm>
            <a:off x="11542831" y="214232"/>
            <a:ext cx="0" cy="275492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33C40-CC47-B749-DA69-91A4B91739E1}"/>
              </a:ext>
            </a:extLst>
          </p:cNvPr>
          <p:cNvCxnSpPr>
            <a:cxnSpLocks/>
          </p:cNvCxnSpPr>
          <p:nvPr/>
        </p:nvCxnSpPr>
        <p:spPr>
          <a:xfrm>
            <a:off x="7204421" y="725864"/>
            <a:ext cx="0" cy="563444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9C9CA7-65F1-D483-FBB6-21E342DB4009}"/>
              </a:ext>
            </a:extLst>
          </p:cNvPr>
          <p:cNvGrpSpPr/>
          <p:nvPr/>
        </p:nvGrpSpPr>
        <p:grpSpPr>
          <a:xfrm>
            <a:off x="3154486" y="725864"/>
            <a:ext cx="3369634" cy="352529"/>
            <a:chOff x="3154486" y="725864"/>
            <a:chExt cx="3369634" cy="3525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8DAEB5-A9FF-C53A-9D42-B81B469D74EF}"/>
                </a:ext>
              </a:extLst>
            </p:cNvPr>
            <p:cNvGrpSpPr/>
            <p:nvPr/>
          </p:nvGrpSpPr>
          <p:grpSpPr>
            <a:xfrm>
              <a:off x="3154486" y="725864"/>
              <a:ext cx="352529" cy="352529"/>
              <a:chOff x="3341677" y="300865"/>
              <a:chExt cx="352529" cy="352529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61F800A-FB90-FD4C-5ED7-CD2EC2296587}"/>
                  </a:ext>
                </a:extLst>
              </p:cNvPr>
              <p:cNvSpPr/>
              <p:nvPr/>
            </p:nvSpPr>
            <p:spPr>
              <a:xfrm>
                <a:off x="3341677" y="300865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grpSp>
            <p:nvGrpSpPr>
              <p:cNvPr id="11" name="Graphic 159">
                <a:extLst>
                  <a:ext uri="{FF2B5EF4-FFF2-40B4-BE49-F238E27FC236}">
                    <a16:creationId xmlns:a16="http://schemas.microsoft.com/office/drawing/2014/main" id="{D576562D-26BE-26FC-C2C7-7416B647310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16808" y="375995"/>
                <a:ext cx="202267" cy="202268"/>
                <a:chOff x="3039690" y="3963730"/>
                <a:chExt cx="704244" cy="704245"/>
              </a:xfrm>
              <a:solidFill>
                <a:schemeClr val="accent1"/>
              </a:solidFill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2DD5D42D-B1BE-5339-0AE4-4B800BBE7364}"/>
                    </a:ext>
                  </a:extLst>
                </p:cNvPr>
                <p:cNvSpPr/>
                <p:nvPr/>
              </p:nvSpPr>
              <p:spPr>
                <a:xfrm>
                  <a:off x="3567996" y="4226903"/>
                  <a:ext cx="175938" cy="175938"/>
                </a:xfrm>
                <a:custGeom>
                  <a:avLst/>
                  <a:gdLst>
                    <a:gd name="connsiteX0" fmla="*/ 87969 w 175938"/>
                    <a:gd name="connsiteY0" fmla="*/ 175939 h 175938"/>
                    <a:gd name="connsiteX1" fmla="*/ 0 w 175938"/>
                    <a:gd name="connsiteY1" fmla="*/ 87969 h 175938"/>
                    <a:gd name="connsiteX2" fmla="*/ 87969 w 175938"/>
                    <a:gd name="connsiteY2" fmla="*/ 0 h 175938"/>
                    <a:gd name="connsiteX3" fmla="*/ 175939 w 175938"/>
                    <a:gd name="connsiteY3" fmla="*/ 87969 h 175938"/>
                    <a:gd name="connsiteX4" fmla="*/ 87969 w 175938"/>
                    <a:gd name="connsiteY4" fmla="*/ 175939 h 175938"/>
                    <a:gd name="connsiteX5" fmla="*/ 87969 w 175938"/>
                    <a:gd name="connsiteY5" fmla="*/ 46558 h 175938"/>
                    <a:gd name="connsiteX6" fmla="*/ 46558 w 175938"/>
                    <a:gd name="connsiteY6" fmla="*/ 87969 h 175938"/>
                    <a:gd name="connsiteX7" fmla="*/ 87969 w 175938"/>
                    <a:gd name="connsiteY7" fmla="*/ 129381 h 175938"/>
                    <a:gd name="connsiteX8" fmla="*/ 129381 w 175938"/>
                    <a:gd name="connsiteY8" fmla="*/ 87969 h 175938"/>
                    <a:gd name="connsiteX9" fmla="*/ 87969 w 175938"/>
                    <a:gd name="connsiteY9" fmla="*/ 46558 h 17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938" h="175938">
                      <a:moveTo>
                        <a:pt x="87969" y="175939"/>
                      </a:moveTo>
                      <a:cubicBezTo>
                        <a:pt x="39452" y="175939"/>
                        <a:pt x="0" y="136487"/>
                        <a:pt x="0" y="87969"/>
                      </a:cubicBezTo>
                      <a:cubicBezTo>
                        <a:pt x="0" y="39451"/>
                        <a:pt x="39452" y="0"/>
                        <a:pt x="87969" y="0"/>
                      </a:cubicBezTo>
                      <a:cubicBezTo>
                        <a:pt x="136487" y="0"/>
                        <a:pt x="175939" y="39451"/>
                        <a:pt x="175939" y="87969"/>
                      </a:cubicBezTo>
                      <a:cubicBezTo>
                        <a:pt x="175939" y="136487"/>
                        <a:pt x="136487" y="175939"/>
                        <a:pt x="87969" y="175939"/>
                      </a:cubicBezTo>
                      <a:close/>
                      <a:moveTo>
                        <a:pt x="87969" y="46558"/>
                      </a:moveTo>
                      <a:cubicBezTo>
                        <a:pt x="65181" y="46558"/>
                        <a:pt x="46558" y="65181"/>
                        <a:pt x="46558" y="87969"/>
                      </a:cubicBezTo>
                      <a:cubicBezTo>
                        <a:pt x="46558" y="110758"/>
                        <a:pt x="65181" y="129381"/>
                        <a:pt x="87969" y="129381"/>
                      </a:cubicBezTo>
                      <a:cubicBezTo>
                        <a:pt x="110758" y="129381"/>
                        <a:pt x="129381" y="110758"/>
                        <a:pt x="129381" y="87969"/>
                      </a:cubicBezTo>
                      <a:cubicBezTo>
                        <a:pt x="129381" y="65181"/>
                        <a:pt x="110758" y="46558"/>
                        <a:pt x="87969" y="46558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4">
                  <a:extLst>
                    <a:ext uri="{FF2B5EF4-FFF2-40B4-BE49-F238E27FC236}">
                      <a16:creationId xmlns:a16="http://schemas.microsoft.com/office/drawing/2014/main" id="{754D4F60-1F50-C56D-6C29-8C56084C7ED5}"/>
                    </a:ext>
                  </a:extLst>
                </p:cNvPr>
                <p:cNvSpPr/>
                <p:nvPr/>
              </p:nvSpPr>
              <p:spPr>
                <a:xfrm>
                  <a:off x="3039690" y="4238175"/>
                  <a:ext cx="182554" cy="182554"/>
                </a:xfrm>
                <a:custGeom>
                  <a:avLst/>
                  <a:gdLst>
                    <a:gd name="connsiteX0" fmla="*/ 159276 w 182554"/>
                    <a:gd name="connsiteY0" fmla="*/ 182555 h 182554"/>
                    <a:gd name="connsiteX1" fmla="*/ 23279 w 182554"/>
                    <a:gd name="connsiteY1" fmla="*/ 182555 h 182554"/>
                    <a:gd name="connsiteX2" fmla="*/ 0 w 182554"/>
                    <a:gd name="connsiteY2" fmla="*/ 159276 h 182554"/>
                    <a:gd name="connsiteX3" fmla="*/ 0 w 182554"/>
                    <a:gd name="connsiteY3" fmla="*/ 23279 h 182554"/>
                    <a:gd name="connsiteX4" fmla="*/ 23279 w 182554"/>
                    <a:gd name="connsiteY4" fmla="*/ 0 h 182554"/>
                    <a:gd name="connsiteX5" fmla="*/ 159276 w 182554"/>
                    <a:gd name="connsiteY5" fmla="*/ 0 h 182554"/>
                    <a:gd name="connsiteX6" fmla="*/ 182555 w 182554"/>
                    <a:gd name="connsiteY6" fmla="*/ 23279 h 182554"/>
                    <a:gd name="connsiteX7" fmla="*/ 182555 w 182554"/>
                    <a:gd name="connsiteY7" fmla="*/ 159276 h 182554"/>
                    <a:gd name="connsiteX8" fmla="*/ 159276 w 182554"/>
                    <a:gd name="connsiteY8" fmla="*/ 182555 h 182554"/>
                    <a:gd name="connsiteX9" fmla="*/ 46558 w 182554"/>
                    <a:gd name="connsiteY9" fmla="*/ 135997 h 182554"/>
                    <a:gd name="connsiteX10" fmla="*/ 135997 w 182554"/>
                    <a:gd name="connsiteY10" fmla="*/ 135997 h 182554"/>
                    <a:gd name="connsiteX11" fmla="*/ 135997 w 182554"/>
                    <a:gd name="connsiteY11" fmla="*/ 46558 h 182554"/>
                    <a:gd name="connsiteX12" fmla="*/ 46558 w 182554"/>
                    <a:gd name="connsiteY12" fmla="*/ 46558 h 182554"/>
                    <a:gd name="connsiteX13" fmla="*/ 46558 w 182554"/>
                    <a:gd name="connsiteY13" fmla="*/ 135997 h 182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2554" h="182554">
                      <a:moveTo>
                        <a:pt x="159276" y="182555"/>
                      </a:moveTo>
                      <a:lnTo>
                        <a:pt x="23279" y="182555"/>
                      </a:lnTo>
                      <a:cubicBezTo>
                        <a:pt x="10537" y="182555"/>
                        <a:pt x="0" y="172018"/>
                        <a:pt x="0" y="159276"/>
                      </a:cubicBezTo>
                      <a:lnTo>
                        <a:pt x="0" y="23279"/>
                      </a:lnTo>
                      <a:cubicBezTo>
                        <a:pt x="0" y="10537"/>
                        <a:pt x="10537" y="0"/>
                        <a:pt x="23279" y="0"/>
                      </a:cubicBezTo>
                      <a:lnTo>
                        <a:pt x="159276" y="0"/>
                      </a:lnTo>
                      <a:cubicBezTo>
                        <a:pt x="172018" y="0"/>
                        <a:pt x="182555" y="10537"/>
                        <a:pt x="182555" y="23279"/>
                      </a:cubicBezTo>
                      <a:lnTo>
                        <a:pt x="182555" y="159276"/>
                      </a:lnTo>
                      <a:cubicBezTo>
                        <a:pt x="182555" y="172018"/>
                        <a:pt x="172018" y="182555"/>
                        <a:pt x="159276" y="182555"/>
                      </a:cubicBezTo>
                      <a:close/>
                      <a:moveTo>
                        <a:pt x="46558" y="135997"/>
                      </a:moveTo>
                      <a:lnTo>
                        <a:pt x="135997" y="135997"/>
                      </a:lnTo>
                      <a:lnTo>
                        <a:pt x="135997" y="46558"/>
                      </a:lnTo>
                      <a:lnTo>
                        <a:pt x="46558" y="46558"/>
                      </a:lnTo>
                      <a:lnTo>
                        <a:pt x="46558" y="135997"/>
                      </a:ln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 15">
                  <a:extLst>
                    <a:ext uri="{FF2B5EF4-FFF2-40B4-BE49-F238E27FC236}">
                      <a16:creationId xmlns:a16="http://schemas.microsoft.com/office/drawing/2014/main" id="{E5EFF7E0-7B5C-116C-54A4-2DFA70743C62}"/>
                    </a:ext>
                  </a:extLst>
                </p:cNvPr>
                <p:cNvSpPr/>
                <p:nvPr/>
              </p:nvSpPr>
              <p:spPr>
                <a:xfrm>
                  <a:off x="3175932" y="3963730"/>
                  <a:ext cx="438131" cy="704245"/>
                </a:xfrm>
                <a:custGeom>
                  <a:avLst/>
                  <a:gdLst>
                    <a:gd name="connsiteX0" fmla="*/ 295763 w 438131"/>
                    <a:gd name="connsiteY0" fmla="*/ 704245 h 704245"/>
                    <a:gd name="connsiteX1" fmla="*/ 230093 w 438131"/>
                    <a:gd name="connsiteY1" fmla="*/ 638574 h 704245"/>
                    <a:gd name="connsiteX2" fmla="*/ 230093 w 438131"/>
                    <a:gd name="connsiteY2" fmla="*/ 65671 h 704245"/>
                    <a:gd name="connsiteX3" fmla="*/ 210979 w 438131"/>
                    <a:gd name="connsiteY3" fmla="*/ 46558 h 704245"/>
                    <a:gd name="connsiteX4" fmla="*/ 191866 w 438131"/>
                    <a:gd name="connsiteY4" fmla="*/ 65671 h 704245"/>
                    <a:gd name="connsiteX5" fmla="*/ 191866 w 438131"/>
                    <a:gd name="connsiteY5" fmla="*/ 549870 h 704245"/>
                    <a:gd name="connsiteX6" fmla="*/ 134282 w 438131"/>
                    <a:gd name="connsiteY6" fmla="*/ 607454 h 704245"/>
                    <a:gd name="connsiteX7" fmla="*/ 76698 w 438131"/>
                    <a:gd name="connsiteY7" fmla="*/ 549870 h 704245"/>
                    <a:gd name="connsiteX8" fmla="*/ 76698 w 438131"/>
                    <a:gd name="connsiteY8" fmla="*/ 411667 h 704245"/>
                    <a:gd name="connsiteX9" fmla="*/ 54154 w 438131"/>
                    <a:gd name="connsiteY9" fmla="*/ 389124 h 704245"/>
                    <a:gd name="connsiteX10" fmla="*/ 23279 w 438131"/>
                    <a:gd name="connsiteY10" fmla="*/ 389124 h 704245"/>
                    <a:gd name="connsiteX11" fmla="*/ 0 w 438131"/>
                    <a:gd name="connsiteY11" fmla="*/ 365845 h 704245"/>
                    <a:gd name="connsiteX12" fmla="*/ 23279 w 438131"/>
                    <a:gd name="connsiteY12" fmla="*/ 342566 h 704245"/>
                    <a:gd name="connsiteX13" fmla="*/ 54154 w 438131"/>
                    <a:gd name="connsiteY13" fmla="*/ 342566 h 704245"/>
                    <a:gd name="connsiteX14" fmla="*/ 123255 w 438131"/>
                    <a:gd name="connsiteY14" fmla="*/ 411667 h 704245"/>
                    <a:gd name="connsiteX15" fmla="*/ 123255 w 438131"/>
                    <a:gd name="connsiteY15" fmla="*/ 549870 h 704245"/>
                    <a:gd name="connsiteX16" fmla="*/ 134282 w 438131"/>
                    <a:gd name="connsiteY16" fmla="*/ 560897 h 704245"/>
                    <a:gd name="connsiteX17" fmla="*/ 145309 w 438131"/>
                    <a:gd name="connsiteY17" fmla="*/ 549870 h 704245"/>
                    <a:gd name="connsiteX18" fmla="*/ 145309 w 438131"/>
                    <a:gd name="connsiteY18" fmla="*/ 65671 h 704245"/>
                    <a:gd name="connsiteX19" fmla="*/ 210979 w 438131"/>
                    <a:gd name="connsiteY19" fmla="*/ 0 h 704245"/>
                    <a:gd name="connsiteX20" fmla="*/ 276650 w 438131"/>
                    <a:gd name="connsiteY20" fmla="*/ 65671 h 704245"/>
                    <a:gd name="connsiteX21" fmla="*/ 276650 w 438131"/>
                    <a:gd name="connsiteY21" fmla="*/ 638574 h 704245"/>
                    <a:gd name="connsiteX22" fmla="*/ 295763 w 438131"/>
                    <a:gd name="connsiteY22" fmla="*/ 657687 h 704245"/>
                    <a:gd name="connsiteX23" fmla="*/ 314876 w 438131"/>
                    <a:gd name="connsiteY23" fmla="*/ 638574 h 704245"/>
                    <a:gd name="connsiteX24" fmla="*/ 314876 w 438131"/>
                    <a:gd name="connsiteY24" fmla="*/ 404561 h 704245"/>
                    <a:gd name="connsiteX25" fmla="*/ 383978 w 438131"/>
                    <a:gd name="connsiteY25" fmla="*/ 335460 h 704245"/>
                    <a:gd name="connsiteX26" fmla="*/ 414853 w 438131"/>
                    <a:gd name="connsiteY26" fmla="*/ 335460 h 704245"/>
                    <a:gd name="connsiteX27" fmla="*/ 438132 w 438131"/>
                    <a:gd name="connsiteY27" fmla="*/ 358739 h 704245"/>
                    <a:gd name="connsiteX28" fmla="*/ 414853 w 438131"/>
                    <a:gd name="connsiteY28" fmla="*/ 382017 h 704245"/>
                    <a:gd name="connsiteX29" fmla="*/ 383978 w 438131"/>
                    <a:gd name="connsiteY29" fmla="*/ 382017 h 704245"/>
                    <a:gd name="connsiteX30" fmla="*/ 361434 w 438131"/>
                    <a:gd name="connsiteY30" fmla="*/ 404561 h 704245"/>
                    <a:gd name="connsiteX31" fmla="*/ 361434 w 438131"/>
                    <a:gd name="connsiteY31" fmla="*/ 638574 h 704245"/>
                    <a:gd name="connsiteX32" fmla="*/ 295763 w 438131"/>
                    <a:gd name="connsiteY32" fmla="*/ 704245 h 704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38131" h="704245">
                      <a:moveTo>
                        <a:pt x="295763" y="704245"/>
                      </a:moveTo>
                      <a:cubicBezTo>
                        <a:pt x="259497" y="704245"/>
                        <a:pt x="230093" y="674840"/>
                        <a:pt x="230093" y="638574"/>
                      </a:cubicBezTo>
                      <a:lnTo>
                        <a:pt x="230093" y="65671"/>
                      </a:lnTo>
                      <a:cubicBezTo>
                        <a:pt x="230093" y="55134"/>
                        <a:pt x="221516" y="46558"/>
                        <a:pt x="210979" y="46558"/>
                      </a:cubicBezTo>
                      <a:cubicBezTo>
                        <a:pt x="200443" y="46558"/>
                        <a:pt x="191866" y="55134"/>
                        <a:pt x="191866" y="65671"/>
                      </a:cubicBezTo>
                      <a:lnTo>
                        <a:pt x="191866" y="549870"/>
                      </a:lnTo>
                      <a:cubicBezTo>
                        <a:pt x="191866" y="581725"/>
                        <a:pt x="166137" y="607454"/>
                        <a:pt x="134282" y="607454"/>
                      </a:cubicBezTo>
                      <a:cubicBezTo>
                        <a:pt x="102427" y="607454"/>
                        <a:pt x="76698" y="581725"/>
                        <a:pt x="76698" y="549870"/>
                      </a:cubicBezTo>
                      <a:lnTo>
                        <a:pt x="76698" y="411667"/>
                      </a:lnTo>
                      <a:cubicBezTo>
                        <a:pt x="76698" y="399170"/>
                        <a:pt x="66651" y="389124"/>
                        <a:pt x="54154" y="389124"/>
                      </a:cubicBezTo>
                      <a:lnTo>
                        <a:pt x="23279" y="389124"/>
                      </a:lnTo>
                      <a:cubicBezTo>
                        <a:pt x="10537" y="389124"/>
                        <a:pt x="0" y="378587"/>
                        <a:pt x="0" y="365845"/>
                      </a:cubicBezTo>
                      <a:cubicBezTo>
                        <a:pt x="0" y="353103"/>
                        <a:pt x="10537" y="342566"/>
                        <a:pt x="23279" y="342566"/>
                      </a:cubicBezTo>
                      <a:lnTo>
                        <a:pt x="54154" y="342566"/>
                      </a:lnTo>
                      <a:cubicBezTo>
                        <a:pt x="92135" y="342566"/>
                        <a:pt x="123255" y="373686"/>
                        <a:pt x="123255" y="411667"/>
                      </a:cubicBezTo>
                      <a:lnTo>
                        <a:pt x="123255" y="549870"/>
                      </a:lnTo>
                      <a:cubicBezTo>
                        <a:pt x="123255" y="555751"/>
                        <a:pt x="128401" y="560897"/>
                        <a:pt x="134282" y="560897"/>
                      </a:cubicBezTo>
                      <a:cubicBezTo>
                        <a:pt x="140163" y="560897"/>
                        <a:pt x="145309" y="555751"/>
                        <a:pt x="145309" y="549870"/>
                      </a:cubicBezTo>
                      <a:lnTo>
                        <a:pt x="145309" y="65671"/>
                      </a:lnTo>
                      <a:cubicBezTo>
                        <a:pt x="145309" y="29405"/>
                        <a:pt x="174714" y="0"/>
                        <a:pt x="210979" y="0"/>
                      </a:cubicBezTo>
                      <a:cubicBezTo>
                        <a:pt x="247245" y="0"/>
                        <a:pt x="276650" y="29405"/>
                        <a:pt x="276650" y="65671"/>
                      </a:cubicBezTo>
                      <a:lnTo>
                        <a:pt x="276650" y="638574"/>
                      </a:lnTo>
                      <a:cubicBezTo>
                        <a:pt x="276650" y="649111"/>
                        <a:pt x="285227" y="657687"/>
                        <a:pt x="295763" y="657687"/>
                      </a:cubicBezTo>
                      <a:cubicBezTo>
                        <a:pt x="306300" y="657687"/>
                        <a:pt x="314876" y="649111"/>
                        <a:pt x="314876" y="638574"/>
                      </a:cubicBezTo>
                      <a:lnTo>
                        <a:pt x="314876" y="404561"/>
                      </a:lnTo>
                      <a:cubicBezTo>
                        <a:pt x="314876" y="366580"/>
                        <a:pt x="345997" y="335460"/>
                        <a:pt x="383978" y="335460"/>
                      </a:cubicBezTo>
                      <a:lnTo>
                        <a:pt x="414853" y="335460"/>
                      </a:lnTo>
                      <a:cubicBezTo>
                        <a:pt x="427595" y="335460"/>
                        <a:pt x="438132" y="345996"/>
                        <a:pt x="438132" y="358739"/>
                      </a:cubicBezTo>
                      <a:cubicBezTo>
                        <a:pt x="438132" y="371481"/>
                        <a:pt x="427595" y="382017"/>
                        <a:pt x="414853" y="382017"/>
                      </a:cubicBezTo>
                      <a:lnTo>
                        <a:pt x="383978" y="382017"/>
                      </a:lnTo>
                      <a:cubicBezTo>
                        <a:pt x="371481" y="382017"/>
                        <a:pt x="361434" y="392064"/>
                        <a:pt x="361434" y="404561"/>
                      </a:cubicBezTo>
                      <a:lnTo>
                        <a:pt x="361434" y="638574"/>
                      </a:lnTo>
                      <a:cubicBezTo>
                        <a:pt x="361434" y="674840"/>
                        <a:pt x="332029" y="704245"/>
                        <a:pt x="295763" y="704245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84F4FDFE-A761-6494-0FC8-EC50A79A79BC}"/>
                </a:ext>
              </a:extLst>
            </p:cNvPr>
            <p:cNvSpPr txBox="1">
              <a:spLocks/>
            </p:cNvSpPr>
            <p:nvPr/>
          </p:nvSpPr>
          <p:spPr>
            <a:xfrm>
              <a:off x="3515474" y="725864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chemeClr val="bg2"/>
                  </a:solidFill>
                </a:rPr>
                <a:t>Challenges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AE170D-46C2-5BD9-2523-AECF574D552D}"/>
              </a:ext>
            </a:extLst>
          </p:cNvPr>
          <p:cNvSpPr txBox="1"/>
          <p:nvPr/>
        </p:nvSpPr>
        <p:spPr>
          <a:xfrm>
            <a:off x="3151002" y="1309015"/>
            <a:ext cx="3586714" cy="10772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/>
                <a:cs typeface="Open Sans"/>
              </a:rPr>
              <a:t>Client’s current media decisions </a:t>
            </a:r>
            <a:r>
              <a:rPr lang="en-US" sz="1000">
                <a:solidFill>
                  <a:schemeClr val="bg2"/>
                </a:solidFill>
                <a:ea typeface="Open Sans"/>
                <a:cs typeface="Open Sans"/>
              </a:rPr>
              <a:t>were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/>
                <a:cs typeface="Open Sans"/>
              </a:rPr>
              <a:t> supported by last-touch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/>
                <a:cs typeface="Open Sans"/>
              </a:rPr>
              <a:t>attribution over-estimating organic media.</a:t>
            </a:r>
          </a:p>
          <a:p>
            <a:pPr marL="228600" marR="0" lvl="0" indent="-2286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/>
                <a:cs typeface="Open Sans"/>
              </a:rPr>
              <a:t>Last-touch attribution </a:t>
            </a:r>
            <a:r>
              <a:rPr lang="en-US" sz="1000">
                <a:solidFill>
                  <a:schemeClr val="bg2"/>
                </a:solidFill>
                <a:ea typeface="Open Sans"/>
                <a:cs typeface="Open Sans"/>
              </a:rPr>
              <a:t>failed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/>
                <a:cs typeface="Open Sans"/>
              </a:rPr>
              <a:t> to consider early and middle stage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/>
                <a:cs typeface="Open Sans"/>
              </a:rPr>
              <a:t>interactions and conversion drivers.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Open Sans"/>
              <a:cs typeface="Open Sans"/>
            </a:endParaRPr>
          </a:p>
          <a:p>
            <a:pPr marL="228600" marR="0" lvl="0" indent="-2286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Simulation/Optimization based on last-touch is immature and does not consider saturation effects.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FF75CFA-40C8-A53B-6C9A-FF04B4EC5E36}"/>
              </a:ext>
            </a:extLst>
          </p:cNvPr>
          <p:cNvGrpSpPr/>
          <p:nvPr/>
        </p:nvGrpSpPr>
        <p:grpSpPr>
          <a:xfrm>
            <a:off x="3154486" y="3243582"/>
            <a:ext cx="3369634" cy="370836"/>
            <a:chOff x="3341677" y="3868850"/>
            <a:chExt cx="3369634" cy="37083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971CA1E-8FD9-79E5-3EBD-B516A9EB64FF}"/>
                </a:ext>
              </a:extLst>
            </p:cNvPr>
            <p:cNvGrpSpPr/>
            <p:nvPr/>
          </p:nvGrpSpPr>
          <p:grpSpPr>
            <a:xfrm>
              <a:off x="3341677" y="3868850"/>
              <a:ext cx="352529" cy="352529"/>
              <a:chOff x="3341677" y="2042101"/>
              <a:chExt cx="352529" cy="352529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0854A33-4862-9F30-4D09-0ACDBA5B2454}"/>
                  </a:ext>
                </a:extLst>
              </p:cNvPr>
              <p:cNvSpPr/>
              <p:nvPr/>
            </p:nvSpPr>
            <p:spPr>
              <a:xfrm>
                <a:off x="3341677" y="2042101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3003F4DE-A539-43BB-02A1-FAB78D888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61602" y="2080333"/>
                <a:ext cx="312678" cy="312678"/>
              </a:xfrm>
              <a:prstGeom prst="rect">
                <a:avLst/>
              </a:prstGeom>
            </p:spPr>
          </p:pic>
        </p:grpSp>
        <p:sp>
          <p:nvSpPr>
            <p:cNvPr id="20" name="Text Placeholder 7">
              <a:extLst>
                <a:ext uri="{FF2B5EF4-FFF2-40B4-BE49-F238E27FC236}">
                  <a16:creationId xmlns:a16="http://schemas.microsoft.com/office/drawing/2014/main" id="{DD024816-D436-E59C-5089-D5ED251840DE}"/>
                </a:ext>
              </a:extLst>
            </p:cNvPr>
            <p:cNvSpPr txBox="1">
              <a:spLocks/>
            </p:cNvSpPr>
            <p:nvPr/>
          </p:nvSpPr>
          <p:spPr>
            <a:xfrm>
              <a:off x="3702665" y="3887158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chemeClr val="bg2"/>
                  </a:solidFill>
                </a:rPr>
                <a:t>Solutions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B2A6DF3-1A2C-1880-83B2-ABAE08F77CD4}"/>
              </a:ext>
            </a:extLst>
          </p:cNvPr>
          <p:cNvSpPr txBox="1"/>
          <p:nvPr/>
        </p:nvSpPr>
        <p:spPr>
          <a:xfrm>
            <a:off x="3154487" y="3821150"/>
            <a:ext cx="3583230" cy="1461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Develop a multi-touch attribution method for customer journey </a:t>
            </a:r>
            <a:r>
              <a:rPr lang="en-US" sz="1000" b="0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analytics.</a:t>
            </a:r>
          </a:p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Markov</a:t>
            </a:r>
            <a:r>
              <a:rPr lang="en-US" sz="1000" b="1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 Chain </a:t>
            </a:r>
            <a:r>
              <a:rPr lang="en-US" sz="1000" b="1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Modeling </a:t>
            </a:r>
            <a:r>
              <a:rPr lang="en-US" sz="1000" b="0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- Modeling</a:t>
            </a: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 media and spending relationships with diminishing </a:t>
            </a:r>
            <a:r>
              <a:rPr lang="en-US" sz="1000" b="0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returns.</a:t>
            </a:r>
          </a:p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Saturated</a:t>
            </a:r>
            <a:r>
              <a:rPr lang="en-US" sz="1000" b="1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 Curve </a:t>
            </a:r>
            <a:r>
              <a:rPr lang="en-US" sz="1000" b="1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Fitting </a:t>
            </a:r>
            <a:r>
              <a:rPr lang="en-US" sz="1000" b="0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- Developing</a:t>
            </a: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 a simulation and an optimization tool for scenario planning and budget </a:t>
            </a:r>
            <a:r>
              <a:rPr lang="en-US" sz="1000" b="0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decision.</a:t>
            </a:r>
          </a:p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Also developed Non-Linear</a:t>
            </a: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 Constrained Programming.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12AE2DB-CC32-9F4C-595C-0B312E67D793}"/>
              </a:ext>
            </a:extLst>
          </p:cNvPr>
          <p:cNvGrpSpPr/>
          <p:nvPr/>
        </p:nvGrpSpPr>
        <p:grpSpPr>
          <a:xfrm>
            <a:off x="7671126" y="725864"/>
            <a:ext cx="3369634" cy="362746"/>
            <a:chOff x="8586322" y="1605610"/>
            <a:chExt cx="3369634" cy="362746"/>
          </a:xfrm>
        </p:grpSpPr>
        <p:sp>
          <p:nvSpPr>
            <p:cNvPr id="31" name="Text Placeholder 7">
              <a:extLst>
                <a:ext uri="{FF2B5EF4-FFF2-40B4-BE49-F238E27FC236}">
                  <a16:creationId xmlns:a16="http://schemas.microsoft.com/office/drawing/2014/main" id="{CB43B02A-09E9-58A8-F2B5-9C3B7F15DA33}"/>
                </a:ext>
              </a:extLst>
            </p:cNvPr>
            <p:cNvSpPr txBox="1">
              <a:spLocks/>
            </p:cNvSpPr>
            <p:nvPr/>
          </p:nvSpPr>
          <p:spPr>
            <a:xfrm>
              <a:off x="8947310" y="1615828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chemeClr val="bg2"/>
                  </a:solidFill>
                </a:rPr>
                <a:t>Impacts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2FC2D3E-E2BF-8AAE-09F1-066A780C5ADF}"/>
                </a:ext>
              </a:extLst>
            </p:cNvPr>
            <p:cNvGrpSpPr/>
            <p:nvPr/>
          </p:nvGrpSpPr>
          <p:grpSpPr>
            <a:xfrm>
              <a:off x="8586322" y="1605610"/>
              <a:ext cx="352529" cy="352529"/>
              <a:chOff x="3341677" y="4153738"/>
              <a:chExt cx="352529" cy="35252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4CD34B9-AE04-D810-D3E4-DA47E9BF01A2}"/>
                  </a:ext>
                </a:extLst>
              </p:cNvPr>
              <p:cNvSpPr/>
              <p:nvPr/>
            </p:nvSpPr>
            <p:spPr>
              <a:xfrm>
                <a:off x="3341677" y="4153738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53BEC236-FF8F-7532-27C6-88EFE41A3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84154" y="4196215"/>
                <a:ext cx="267575" cy="267575"/>
              </a:xfrm>
              <a:prstGeom prst="rect">
                <a:avLst/>
              </a:prstGeom>
            </p:spPr>
          </p:pic>
        </p:grpSp>
      </p:grp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4B1DAEA4-71FA-BDEA-3C6F-685EE63F4A22}"/>
              </a:ext>
            </a:extLst>
          </p:cNvPr>
          <p:cNvSpPr txBox="1">
            <a:spLocks/>
          </p:cNvSpPr>
          <p:nvPr/>
        </p:nvSpPr>
        <p:spPr>
          <a:xfrm>
            <a:off x="252413" y="2820791"/>
            <a:ext cx="2365282" cy="313759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397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481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480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466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0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492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467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 dirty="0">
                <a:latin typeface="+mj-lt"/>
                <a:ea typeface="Calibri"/>
                <a:cs typeface="Calibri"/>
              </a:rPr>
              <a:t>$2.8b Hospitality client was interested in optimal allocation of online advertising budget to paid media channels to maximize the number of bookings</a:t>
            </a:r>
            <a:endParaRPr lang="en-US" sz="1200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B1845D-34C8-233E-33F5-B487EA4A79B4}"/>
              </a:ext>
            </a:extLst>
          </p:cNvPr>
          <p:cNvGrpSpPr/>
          <p:nvPr/>
        </p:nvGrpSpPr>
        <p:grpSpPr>
          <a:xfrm>
            <a:off x="7671126" y="1309015"/>
            <a:ext cx="3984424" cy="961720"/>
            <a:chOff x="7671126" y="1309015"/>
            <a:chExt cx="3984424" cy="9617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021CA6C-68A4-4AB5-6C89-E97FA0A877A6}"/>
                </a:ext>
              </a:extLst>
            </p:cNvPr>
            <p:cNvSpPr/>
            <p:nvPr/>
          </p:nvSpPr>
          <p:spPr>
            <a:xfrm>
              <a:off x="7671126" y="1309015"/>
              <a:ext cx="3984424" cy="96172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C4CF8F8-A432-6566-897E-2772029056CC}"/>
                </a:ext>
              </a:extLst>
            </p:cNvPr>
            <p:cNvSpPr txBox="1"/>
            <p:nvPr/>
          </p:nvSpPr>
          <p:spPr>
            <a:xfrm>
              <a:off x="8031751" y="1635988"/>
              <a:ext cx="32631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algn="ctr" defTabSz="9140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tabLst/>
                <a:defRPr/>
              </a:pPr>
              <a:r>
                <a:rPr lang="en-US" sz="1000" b="0" i="0" kern="1200" noProof="0" dirty="0">
                  <a:effectLst/>
                  <a:latin typeface="PP Telegraf" pitchFamily="2" charset="77"/>
                  <a:ea typeface="+mn-ea"/>
                  <a:cs typeface="+mn-cs"/>
                </a:rPr>
                <a:t>Provided incrementality analysis with</a:t>
              </a:r>
              <a:br>
                <a:rPr lang="en-US" sz="1000" b="0" i="0" kern="1200" noProof="0" dirty="0">
                  <a:effectLst/>
                  <a:latin typeface="PP Telegraf" pitchFamily="2" charset="77"/>
                  <a:ea typeface="+mn-ea"/>
                  <a:cs typeface="+mn-cs"/>
                </a:rPr>
              </a:br>
              <a:r>
                <a:rPr lang="en-US" sz="1000" b="0" i="0" kern="1200" noProof="0" dirty="0">
                  <a:effectLst/>
                  <a:latin typeface="PP Telegraf" pitchFamily="2" charset="77"/>
                  <a:ea typeface="+mn-ea"/>
                  <a:cs typeface="+mn-cs"/>
                </a:rPr>
                <a:t>multi-touch attribution.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E186A38-A985-A300-6B0A-D2652908D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067" y="3631825"/>
            <a:ext cx="4278119" cy="236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832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Blend">
  <a:themeElements>
    <a:clrScheme name="Blend360">
      <a:dk1>
        <a:srgbClr val="000000"/>
      </a:dk1>
      <a:lt1>
        <a:srgbClr val="FFFFFF"/>
      </a:lt1>
      <a:dk2>
        <a:srgbClr val="003059"/>
      </a:dk2>
      <a:lt2>
        <a:srgbClr val="F3F3F0"/>
      </a:lt2>
      <a:accent1>
        <a:srgbClr val="053057"/>
      </a:accent1>
      <a:accent2>
        <a:srgbClr val="00EDED"/>
      </a:accent2>
      <a:accent3>
        <a:srgbClr val="A2F3F3"/>
      </a:accent3>
      <a:accent4>
        <a:srgbClr val="304550"/>
      </a:accent4>
      <a:accent5>
        <a:srgbClr val="1A1A1A"/>
      </a:accent5>
      <a:accent6>
        <a:srgbClr val="0B0D0E"/>
      </a:accent6>
      <a:hlink>
        <a:srgbClr val="00ECEC"/>
      </a:hlink>
      <a:folHlink>
        <a:srgbClr val="954F72"/>
      </a:folHlink>
    </a:clrScheme>
    <a:fontScheme name="Custom 1">
      <a:majorFont>
        <a:latin typeface="PP Telegraf"/>
        <a:ea typeface=""/>
        <a:cs typeface=""/>
      </a:majorFont>
      <a:minorFont>
        <a:latin typeface="PP Telegra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lnSpc>
            <a:spcPct val="150000"/>
          </a:lnSpc>
          <a:defRPr sz="140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 Blend" id="{E0763DE7-0215-0047-A27E-03B98F738A5C}" vid="{64103EF7-30F9-1741-A16A-7688B40A51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E722E5EB8B748BE12F9CA1D19D31C" ma:contentTypeVersion="33" ma:contentTypeDescription="Create a new document." ma:contentTypeScope="" ma:versionID="77eaad84818c28c76aab14c7faae60cf">
  <xsd:schema xmlns:xsd="http://www.w3.org/2001/XMLSchema" xmlns:xs="http://www.w3.org/2001/XMLSchema" xmlns:p="http://schemas.microsoft.com/office/2006/metadata/properties" xmlns:ns1="http://schemas.microsoft.com/sharepoint/v3" xmlns:ns2="d83cb538-dcdc-441d-a642-0e643b97be37" xmlns:ns3="b41fe58b-a25b-4acc-bda3-1cc61b51d581" targetNamespace="http://schemas.microsoft.com/office/2006/metadata/properties" ma:root="true" ma:fieldsID="0d2262c8d4f305b1c40ad2a7c1cf1611" ns1:_="" ns2:_="" ns3:_="">
    <xsd:import namespace="http://schemas.microsoft.com/sharepoint/v3"/>
    <xsd:import namespace="d83cb538-dcdc-441d-a642-0e643b97be37"/>
    <xsd:import namespace="b41fe58b-a25b-4acc-bda3-1cc61b51d5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ate" minOccurs="0"/>
                <xsd:element ref="ns2:Client" minOccurs="0"/>
                <xsd:element ref="ns2:All_x002d_StarProgram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Target_x0020_Audiences" minOccurs="0"/>
                <xsd:element ref="ns2:_ModernAudienceTargetUserField" minOccurs="0"/>
                <xsd:element ref="ns2:_ModernAudienceAadObjectI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3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4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5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6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7" nillable="true" ma:displayName="Number of Likes" ma:internalName="LikesCount">
      <xsd:simpleType>
        <xsd:restriction base="dms:Unknown"/>
      </xsd:simpleType>
    </xsd:element>
    <xsd:element name="LikedBy" ma:index="28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cb538-dcdc-441d-a642-0e643b97be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Date" ma:index="20" nillable="true" ma:displayName="Date" ma:format="DateOnly" ma:internalName="Date">
      <xsd:simpleType>
        <xsd:restriction base="dms:DateTime"/>
      </xsd:simpleType>
    </xsd:element>
    <xsd:element name="Client" ma:index="21" nillable="true" ma:displayName="Client" ma:format="Dropdown" ma:internalName="Client">
      <xsd:simpleType>
        <xsd:restriction base="dms:Choice">
          <xsd:enumeration value="Lowes"/>
          <xsd:enumeration value="CVS"/>
          <xsd:enumeration value="Benefytt"/>
        </xsd:restriction>
      </xsd:simpleType>
    </xsd:element>
    <xsd:element name="All_x002d_StarProgram" ma:index="22" nillable="true" ma:displayName="All-Star Program" ma:default="1" ma:format="Dropdown" ma:internalName="All_x002d_StarProgram">
      <xsd:simpleType>
        <xsd:restriction base="dms:Boolea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12b4ba89-8ace-419e-814f-6a2e402f6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3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rget_x0020_Audiences" ma:index="35" nillable="true" ma:displayName="Target Audiences" ma:internalName="Target_x0020_Audiences">
      <xsd:simpleType>
        <xsd:restriction base="dms:Unknown"/>
      </xsd:simpleType>
    </xsd:element>
    <xsd:element name="_ModernAudienceTargetUserField" ma:index="36" nillable="true" ma:displayName="Audienc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37" nillable="true" ma:displayName="AudienceIds" ma:list="{12c75594-a8db-4095-9387-f714a1a44b87}" ma:internalName="_ModernAudienceAadObjectIds" ma:readOnly="true" ma:showField="_AadObjectIdForUser" ma:web="b41fe58b-a25b-4acc-bda3-1cc61b51d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fe58b-a25b-4acc-bda3-1cc61b51d58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1" nillable="true" ma:displayName="Taxonomy Catch All Column" ma:hidden="true" ma:list="{af88503c-eef4-4266-8a32-a46904804468}" ma:internalName="TaxCatchAll" ma:showField="CatchAllData" ma:web="b41fe58b-a25b-4acc-bda3-1cc61b51d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3cb538-dcdc-441d-a642-0e643b97be37">
      <Terms xmlns="http://schemas.microsoft.com/office/infopath/2007/PartnerControls"/>
    </lcf76f155ced4ddcb4097134ff3c332f>
    <TaxCatchAll xmlns="b41fe58b-a25b-4acc-bda3-1cc61b51d581" xsi:nil="true"/>
    <LikesCount xmlns="http://schemas.microsoft.com/sharepoint/v3" xsi:nil="true"/>
    <All_x002d_StarProgram xmlns="d83cb538-dcdc-441d-a642-0e643b97be37">true</All_x002d_StarProgram>
    <Ratings xmlns="http://schemas.microsoft.com/sharepoint/v3" xsi:nil="true"/>
    <Client xmlns="d83cb538-dcdc-441d-a642-0e643b97be37" xsi:nil="true"/>
    <LikedBy xmlns="http://schemas.microsoft.com/sharepoint/v3">
      <UserInfo>
        <DisplayName/>
        <AccountId xsi:nil="true"/>
        <AccountType/>
      </UserInfo>
    </LikedBy>
    <Date xmlns="d83cb538-dcdc-441d-a642-0e643b97be37" xsi:nil="true"/>
    <RatedBy xmlns="http://schemas.microsoft.com/sharepoint/v3">
      <UserInfo>
        <DisplayName/>
        <AccountId xsi:nil="true"/>
        <AccountType/>
      </UserInfo>
    </RatedBy>
    <SharedWithUsers xmlns="b41fe58b-a25b-4acc-bda3-1cc61b51d581">
      <UserInfo>
        <DisplayName/>
        <AccountId xsi:nil="true"/>
        <AccountType/>
      </UserInfo>
    </SharedWithUsers>
    <MediaLengthInSeconds xmlns="d83cb538-dcdc-441d-a642-0e643b97be37" xsi:nil="true"/>
    <Target_x0020_Audiences xmlns="d83cb538-dcdc-441d-a642-0e643b97be37" xsi:nil="true"/>
    <_ModernAudienceTargetUserField xmlns="d83cb538-dcdc-441d-a642-0e643b97be37">
      <UserInfo>
        <DisplayName/>
        <AccountId xsi:nil="true"/>
        <AccountType/>
      </UserInfo>
    </_ModernAudienceTargetUserField>
  </documentManagement>
</p:properties>
</file>

<file path=customXml/itemProps1.xml><?xml version="1.0" encoding="utf-8"?>
<ds:datastoreItem xmlns:ds="http://schemas.openxmlformats.org/officeDocument/2006/customXml" ds:itemID="{60F6091E-BF31-45DC-9A56-8F70DAF276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83cb538-dcdc-441d-a642-0e643b97be37"/>
    <ds:schemaRef ds:uri="b41fe58b-a25b-4acc-bda3-1cc61b51d5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3FA1CC-2B9F-42AD-9DD7-171D7FF564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435744-62E8-43F3-B484-5815C7568A2F}">
  <ds:schemaRefs>
    <ds:schemaRef ds:uri="http://purl.org/dc/elements/1.1/"/>
    <ds:schemaRef ds:uri="d83cb538-dcdc-441d-a642-0e643b97be37"/>
    <ds:schemaRef ds:uri="http://purl.org/dc/terms/"/>
    <ds:schemaRef ds:uri="b41fe58b-a25b-4acc-bda3-1cc61b51d581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Blend</Template>
  <TotalTime>1085</TotalTime>
  <Words>149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Open Sans</vt:lpstr>
      <vt:lpstr>PP Telegraf</vt:lpstr>
      <vt:lpstr>Theme Blend</vt:lpstr>
      <vt:lpstr>Hospitality - Allocation Optimization  with Multi-Touch Attribution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Unleashing Conversion Potential: </dc:title>
  <dc:creator>Amirah Azlan</dc:creator>
  <cp:lastModifiedBy>Shashank Tiwari</cp:lastModifiedBy>
  <cp:revision>19</cp:revision>
  <dcterms:created xsi:type="dcterms:W3CDTF">2023-10-11T02:53:42Z</dcterms:created>
  <dcterms:modified xsi:type="dcterms:W3CDTF">2026-07-16T08:54:00Z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0x0101001F4E722E5EB8B748BE12F9CA1D19D31C</vt:lpwstr>
  </property>
  <property fmtid="{D5CDD505-2E9C-101B-9397-08002B2CF9AE}" pid="3" name="MediaServiceImageTags">
    <vt:lpwstr/>
  </property>
  <property fmtid="{D5CDD505-2E9C-101B-9397-08002B2CF9AE}" pid="4" name="Order">
    <vt:r8>1425800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