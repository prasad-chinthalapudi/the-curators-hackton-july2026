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147470894" r:id="rId5"/>
    <p:sldId id="2147470897" r:id="rId6"/>
    <p:sldId id="21474708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235BC-1278-99B8-7881-8DFFF833C9F8}" v="27" dt="2025-12-01T17:27:02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96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Holmes" userId="S::chad.holmes@blend360.com::c70466bd-7f39-44bc-b9fb-7a316abd125a" providerId="AD" clId="Web-{6AD235BC-1278-99B8-7881-8DFFF833C9F8}"/>
    <pc:docChg chg="modSld">
      <pc:chgData name="Chad Holmes" userId="S::chad.holmes@blend360.com::c70466bd-7f39-44bc-b9fb-7a316abd125a" providerId="AD" clId="Web-{6AD235BC-1278-99B8-7881-8DFFF833C9F8}" dt="2025-12-01T17:27:02.247" v="23" actId="1076"/>
      <pc:docMkLst>
        <pc:docMk/>
      </pc:docMkLst>
      <pc:sldChg chg="addSp modSp">
        <pc:chgData name="Chad Holmes" userId="S::chad.holmes@blend360.com::c70466bd-7f39-44bc-b9fb-7a316abd125a" providerId="AD" clId="Web-{6AD235BC-1278-99B8-7881-8DFFF833C9F8}" dt="2025-12-01T17:27:02.247" v="23" actId="1076"/>
        <pc:sldMkLst>
          <pc:docMk/>
          <pc:sldMk cId="3991220447" sldId="2147470894"/>
        </pc:sldMkLst>
        <pc:spChg chg="mod">
          <ac:chgData name="Chad Holmes" userId="S::chad.holmes@blend360.com::c70466bd-7f39-44bc-b9fb-7a316abd125a" providerId="AD" clId="Web-{6AD235BC-1278-99B8-7881-8DFFF833C9F8}" dt="2025-12-01T17:26:46.638" v="19" actId="14100"/>
          <ac:spMkLst>
            <pc:docMk/>
            <pc:sldMk cId="3991220447" sldId="2147470894"/>
            <ac:spMk id="16" creationId="{15AE170D-46C2-5BD9-2523-AECF574D552D}"/>
          </ac:spMkLst>
        </pc:spChg>
        <pc:spChg chg="add mod">
          <ac:chgData name="Chad Holmes" userId="S::chad.holmes@blend360.com::c70466bd-7f39-44bc-b9fb-7a316abd125a" providerId="AD" clId="Web-{6AD235BC-1278-99B8-7881-8DFFF833C9F8}" dt="2025-12-01T17:24:03.262" v="7" actId="1076"/>
          <ac:spMkLst>
            <pc:docMk/>
            <pc:sldMk cId="3991220447" sldId="2147470894"/>
            <ac:spMk id="26" creationId="{4EBA1DC3-DBD9-E5BC-9403-BA0E07E2D8D2}"/>
          </ac:spMkLst>
        </pc:spChg>
        <pc:spChg chg="mod">
          <ac:chgData name="Chad Holmes" userId="S::chad.holmes@blend360.com::c70466bd-7f39-44bc-b9fb-7a316abd125a" providerId="AD" clId="Web-{6AD235BC-1278-99B8-7881-8DFFF833C9F8}" dt="2025-12-01T17:27:02.216" v="22" actId="1076"/>
          <ac:spMkLst>
            <pc:docMk/>
            <pc:sldMk cId="3991220447" sldId="2147470894"/>
            <ac:spMk id="59" creationId="{98F81182-60EB-096B-B4FE-4B9A8F9A08BD}"/>
          </ac:spMkLst>
        </pc:spChg>
        <pc:spChg chg="mod">
          <ac:chgData name="Chad Holmes" userId="S::chad.holmes@blend360.com::c70466bd-7f39-44bc-b9fb-7a316abd125a" providerId="AD" clId="Web-{6AD235BC-1278-99B8-7881-8DFFF833C9F8}" dt="2025-12-01T17:27:02.247" v="23" actId="1076"/>
          <ac:spMkLst>
            <pc:docMk/>
            <pc:sldMk cId="3991220447" sldId="2147470894"/>
            <ac:spMk id="61" creationId="{A05091D3-9C71-A6A5-C3CF-1658025CF318}"/>
          </ac:spMkLst>
        </pc:spChg>
        <pc:grpChg chg="add mod">
          <ac:chgData name="Chad Holmes" userId="S::chad.holmes@blend360.com::c70466bd-7f39-44bc-b9fb-7a316abd125a" providerId="AD" clId="Web-{6AD235BC-1278-99B8-7881-8DFFF833C9F8}" dt="2025-12-01T17:24:03.231" v="6" actId="1076"/>
          <ac:grpSpMkLst>
            <pc:docMk/>
            <pc:sldMk cId="3991220447" sldId="2147470894"/>
            <ac:grpSpMk id="23" creationId="{C57A8C31-8F2B-419B-C7C3-2692A6942A11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9FB5B-17C9-8E44-A472-E401340FF68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E8998-DA6B-A84E-997C-51E9BB4D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tx1"/>
                </a:solidFill>
                <a:latin typeface="PP Telegraf" pitchFamily="2" charset="77"/>
              </a:rPr>
              <a:pPr/>
              <a:t>‹#›</a:t>
            </a:fld>
            <a:endParaRPr lang="en-US" sz="800" b="0" i="0">
              <a:solidFill>
                <a:schemeClr val="tx1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tx1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tx1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tx1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65596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900211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82EF19E0-0049-FE37-057B-D47006AC54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30319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5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1197388" y="6278962"/>
            <a:ext cx="2394775" cy="1347236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923FFA-63D8-6AA1-0B42-302CD3657F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41141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169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F6A3EBBB-0FC3-1672-399E-72EFAED6CD53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accent4"/>
                </a:solidFill>
                <a:latin typeface="PP Telegraf" pitchFamily="2" charset="77"/>
              </a:rPr>
              <a:pPr/>
              <a:t>‹#›</a:t>
            </a:fld>
            <a:endParaRPr lang="en-US" sz="800" b="0" i="0">
              <a:solidFill>
                <a:schemeClr val="accent4"/>
              </a:solidFill>
              <a:latin typeface="PP Telegraf" pitchFamily="2" charset="77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6A14AE1-2BFA-E815-4CC5-672DB37E9A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313" y="6434682"/>
            <a:ext cx="427597" cy="28829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032DE-ED80-88D4-B2BE-07C067D3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5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109D-D67B-DB48-2DCA-7F16D47F3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58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06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08" r:id="rId4"/>
  </p:sldLayoutIdLst>
  <p:txStyles>
    <p:titleStyle>
      <a:lvl1pPr algn="l" defTabSz="913974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94" indent="-228494" algn="l" defTabSz="91397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81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80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66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50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492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467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74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48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3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47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6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4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42">
          <p15:clr>
            <a:srgbClr val="F26B43"/>
          </p15:clr>
        </p15:guide>
        <p15:guide id="2" pos="280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3B5533-77EF-50FF-FA8D-8E970A16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2166467" cy="1938992"/>
          </a:xfrm>
        </p:spPr>
        <p:txBody>
          <a:bodyPr/>
          <a:lstStyle/>
          <a:p>
            <a:r>
              <a:rPr lang="en-US">
                <a:latin typeface="+mn-lt"/>
              </a:rPr>
              <a:t>Retail </a:t>
            </a:r>
            <a:br>
              <a:rPr lang="en-US">
                <a:latin typeface="+mn-lt"/>
              </a:rPr>
            </a:br>
            <a:r>
              <a:rPr lang="en-US">
                <a:latin typeface="+mn-lt"/>
              </a:rPr>
              <a:t>Giant – Incremental Revenue Estimation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E0436-EF8D-1200-0AF5-F999378C390D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9C9CA7-65F1-D483-FBB6-21E342DB4009}"/>
              </a:ext>
            </a:extLst>
          </p:cNvPr>
          <p:cNvGrpSpPr/>
          <p:nvPr/>
        </p:nvGrpSpPr>
        <p:grpSpPr>
          <a:xfrm>
            <a:off x="3154486" y="725864"/>
            <a:ext cx="3369634" cy="352529"/>
            <a:chOff x="3154486" y="725864"/>
            <a:chExt cx="3369634" cy="3525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8DAEB5-A9FF-C53A-9D42-B81B469D74EF}"/>
                </a:ext>
              </a:extLst>
            </p:cNvPr>
            <p:cNvGrpSpPr/>
            <p:nvPr/>
          </p:nvGrpSpPr>
          <p:grpSpPr>
            <a:xfrm>
              <a:off x="3154486" y="725864"/>
              <a:ext cx="352529" cy="352529"/>
              <a:chOff x="3341677" y="300865"/>
              <a:chExt cx="352529" cy="35252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61F800A-FB90-FD4C-5ED7-CD2EC2296587}"/>
                  </a:ext>
                </a:extLst>
              </p:cNvPr>
              <p:cNvSpPr/>
              <p:nvPr/>
            </p:nvSpPr>
            <p:spPr>
              <a:xfrm>
                <a:off x="3341677" y="300865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grpSp>
            <p:nvGrpSpPr>
              <p:cNvPr id="11" name="Graphic 159">
                <a:extLst>
                  <a:ext uri="{FF2B5EF4-FFF2-40B4-BE49-F238E27FC236}">
                    <a16:creationId xmlns:a16="http://schemas.microsoft.com/office/drawing/2014/main" id="{D576562D-26BE-26FC-C2C7-7416B647310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16808" y="375995"/>
                <a:ext cx="202267" cy="202268"/>
                <a:chOff x="3039690" y="3963730"/>
                <a:chExt cx="704244" cy="704245"/>
              </a:xfrm>
              <a:solidFill>
                <a:schemeClr val="accent1"/>
              </a:solidFill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2DD5D42D-B1BE-5339-0AE4-4B800BBE7364}"/>
                    </a:ext>
                  </a:extLst>
                </p:cNvPr>
                <p:cNvSpPr/>
                <p:nvPr/>
              </p:nvSpPr>
              <p:spPr>
                <a:xfrm>
                  <a:off x="3567996" y="4226903"/>
                  <a:ext cx="175938" cy="175938"/>
                </a:xfrm>
                <a:custGeom>
                  <a:avLst/>
                  <a:gdLst>
                    <a:gd name="connsiteX0" fmla="*/ 87969 w 175938"/>
                    <a:gd name="connsiteY0" fmla="*/ 175939 h 175938"/>
                    <a:gd name="connsiteX1" fmla="*/ 0 w 175938"/>
                    <a:gd name="connsiteY1" fmla="*/ 87969 h 175938"/>
                    <a:gd name="connsiteX2" fmla="*/ 87969 w 175938"/>
                    <a:gd name="connsiteY2" fmla="*/ 0 h 175938"/>
                    <a:gd name="connsiteX3" fmla="*/ 175939 w 175938"/>
                    <a:gd name="connsiteY3" fmla="*/ 87969 h 175938"/>
                    <a:gd name="connsiteX4" fmla="*/ 87969 w 175938"/>
                    <a:gd name="connsiteY4" fmla="*/ 175939 h 175938"/>
                    <a:gd name="connsiteX5" fmla="*/ 87969 w 175938"/>
                    <a:gd name="connsiteY5" fmla="*/ 46558 h 175938"/>
                    <a:gd name="connsiteX6" fmla="*/ 46558 w 175938"/>
                    <a:gd name="connsiteY6" fmla="*/ 87969 h 175938"/>
                    <a:gd name="connsiteX7" fmla="*/ 87969 w 175938"/>
                    <a:gd name="connsiteY7" fmla="*/ 129381 h 175938"/>
                    <a:gd name="connsiteX8" fmla="*/ 129381 w 175938"/>
                    <a:gd name="connsiteY8" fmla="*/ 87969 h 175938"/>
                    <a:gd name="connsiteX9" fmla="*/ 87969 w 175938"/>
                    <a:gd name="connsiteY9" fmla="*/ 46558 h 17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938" h="175938">
                      <a:moveTo>
                        <a:pt x="87969" y="175939"/>
                      </a:moveTo>
                      <a:cubicBezTo>
                        <a:pt x="39452" y="175939"/>
                        <a:pt x="0" y="136487"/>
                        <a:pt x="0" y="87969"/>
                      </a:cubicBezTo>
                      <a:cubicBezTo>
                        <a:pt x="0" y="39451"/>
                        <a:pt x="39452" y="0"/>
                        <a:pt x="87969" y="0"/>
                      </a:cubicBezTo>
                      <a:cubicBezTo>
                        <a:pt x="136487" y="0"/>
                        <a:pt x="175939" y="39451"/>
                        <a:pt x="175939" y="87969"/>
                      </a:cubicBezTo>
                      <a:cubicBezTo>
                        <a:pt x="175939" y="136487"/>
                        <a:pt x="136487" y="175939"/>
                        <a:pt x="87969" y="175939"/>
                      </a:cubicBezTo>
                      <a:close/>
                      <a:moveTo>
                        <a:pt x="87969" y="46558"/>
                      </a:moveTo>
                      <a:cubicBezTo>
                        <a:pt x="65181" y="46558"/>
                        <a:pt x="46558" y="65181"/>
                        <a:pt x="46558" y="87969"/>
                      </a:cubicBezTo>
                      <a:cubicBezTo>
                        <a:pt x="46558" y="110758"/>
                        <a:pt x="65181" y="129381"/>
                        <a:pt x="87969" y="129381"/>
                      </a:cubicBezTo>
                      <a:cubicBezTo>
                        <a:pt x="110758" y="129381"/>
                        <a:pt x="129381" y="110758"/>
                        <a:pt x="129381" y="87969"/>
                      </a:cubicBezTo>
                      <a:cubicBezTo>
                        <a:pt x="129381" y="65181"/>
                        <a:pt x="110758" y="46558"/>
                        <a:pt x="87969" y="46558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4">
                  <a:extLst>
                    <a:ext uri="{FF2B5EF4-FFF2-40B4-BE49-F238E27FC236}">
                      <a16:creationId xmlns:a16="http://schemas.microsoft.com/office/drawing/2014/main" id="{754D4F60-1F50-C56D-6C29-8C56084C7ED5}"/>
                    </a:ext>
                  </a:extLst>
                </p:cNvPr>
                <p:cNvSpPr/>
                <p:nvPr/>
              </p:nvSpPr>
              <p:spPr>
                <a:xfrm>
                  <a:off x="3039690" y="4238175"/>
                  <a:ext cx="182554" cy="182554"/>
                </a:xfrm>
                <a:custGeom>
                  <a:avLst/>
                  <a:gdLst>
                    <a:gd name="connsiteX0" fmla="*/ 159276 w 182554"/>
                    <a:gd name="connsiteY0" fmla="*/ 182555 h 182554"/>
                    <a:gd name="connsiteX1" fmla="*/ 23279 w 182554"/>
                    <a:gd name="connsiteY1" fmla="*/ 182555 h 182554"/>
                    <a:gd name="connsiteX2" fmla="*/ 0 w 182554"/>
                    <a:gd name="connsiteY2" fmla="*/ 159276 h 182554"/>
                    <a:gd name="connsiteX3" fmla="*/ 0 w 182554"/>
                    <a:gd name="connsiteY3" fmla="*/ 23279 h 182554"/>
                    <a:gd name="connsiteX4" fmla="*/ 23279 w 182554"/>
                    <a:gd name="connsiteY4" fmla="*/ 0 h 182554"/>
                    <a:gd name="connsiteX5" fmla="*/ 159276 w 182554"/>
                    <a:gd name="connsiteY5" fmla="*/ 0 h 182554"/>
                    <a:gd name="connsiteX6" fmla="*/ 182555 w 182554"/>
                    <a:gd name="connsiteY6" fmla="*/ 23279 h 182554"/>
                    <a:gd name="connsiteX7" fmla="*/ 182555 w 182554"/>
                    <a:gd name="connsiteY7" fmla="*/ 159276 h 182554"/>
                    <a:gd name="connsiteX8" fmla="*/ 159276 w 182554"/>
                    <a:gd name="connsiteY8" fmla="*/ 182555 h 182554"/>
                    <a:gd name="connsiteX9" fmla="*/ 46558 w 182554"/>
                    <a:gd name="connsiteY9" fmla="*/ 135997 h 182554"/>
                    <a:gd name="connsiteX10" fmla="*/ 135997 w 182554"/>
                    <a:gd name="connsiteY10" fmla="*/ 135997 h 182554"/>
                    <a:gd name="connsiteX11" fmla="*/ 135997 w 182554"/>
                    <a:gd name="connsiteY11" fmla="*/ 46558 h 182554"/>
                    <a:gd name="connsiteX12" fmla="*/ 46558 w 182554"/>
                    <a:gd name="connsiteY12" fmla="*/ 46558 h 182554"/>
                    <a:gd name="connsiteX13" fmla="*/ 46558 w 182554"/>
                    <a:gd name="connsiteY13" fmla="*/ 135997 h 182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2554" h="182554">
                      <a:moveTo>
                        <a:pt x="159276" y="182555"/>
                      </a:moveTo>
                      <a:lnTo>
                        <a:pt x="23279" y="182555"/>
                      </a:lnTo>
                      <a:cubicBezTo>
                        <a:pt x="10537" y="182555"/>
                        <a:pt x="0" y="172018"/>
                        <a:pt x="0" y="159276"/>
                      </a:cubicBezTo>
                      <a:lnTo>
                        <a:pt x="0" y="23279"/>
                      </a:lnTo>
                      <a:cubicBezTo>
                        <a:pt x="0" y="10537"/>
                        <a:pt x="10537" y="0"/>
                        <a:pt x="23279" y="0"/>
                      </a:cubicBezTo>
                      <a:lnTo>
                        <a:pt x="159276" y="0"/>
                      </a:lnTo>
                      <a:cubicBezTo>
                        <a:pt x="172018" y="0"/>
                        <a:pt x="182555" y="10537"/>
                        <a:pt x="182555" y="23279"/>
                      </a:cubicBezTo>
                      <a:lnTo>
                        <a:pt x="182555" y="159276"/>
                      </a:lnTo>
                      <a:cubicBezTo>
                        <a:pt x="182555" y="172018"/>
                        <a:pt x="172018" y="182555"/>
                        <a:pt x="159276" y="182555"/>
                      </a:cubicBezTo>
                      <a:close/>
                      <a:moveTo>
                        <a:pt x="46558" y="135997"/>
                      </a:moveTo>
                      <a:lnTo>
                        <a:pt x="135997" y="135997"/>
                      </a:lnTo>
                      <a:lnTo>
                        <a:pt x="135997" y="46558"/>
                      </a:lnTo>
                      <a:lnTo>
                        <a:pt x="46558" y="46558"/>
                      </a:lnTo>
                      <a:lnTo>
                        <a:pt x="46558" y="135997"/>
                      </a:ln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 15">
                  <a:extLst>
                    <a:ext uri="{FF2B5EF4-FFF2-40B4-BE49-F238E27FC236}">
                      <a16:creationId xmlns:a16="http://schemas.microsoft.com/office/drawing/2014/main" id="{E5EFF7E0-7B5C-116C-54A4-2DFA70743C62}"/>
                    </a:ext>
                  </a:extLst>
                </p:cNvPr>
                <p:cNvSpPr/>
                <p:nvPr/>
              </p:nvSpPr>
              <p:spPr>
                <a:xfrm>
                  <a:off x="3175932" y="3963730"/>
                  <a:ext cx="438131" cy="704245"/>
                </a:xfrm>
                <a:custGeom>
                  <a:avLst/>
                  <a:gdLst>
                    <a:gd name="connsiteX0" fmla="*/ 295763 w 438131"/>
                    <a:gd name="connsiteY0" fmla="*/ 704245 h 704245"/>
                    <a:gd name="connsiteX1" fmla="*/ 230093 w 438131"/>
                    <a:gd name="connsiteY1" fmla="*/ 638574 h 704245"/>
                    <a:gd name="connsiteX2" fmla="*/ 230093 w 438131"/>
                    <a:gd name="connsiteY2" fmla="*/ 65671 h 704245"/>
                    <a:gd name="connsiteX3" fmla="*/ 210979 w 438131"/>
                    <a:gd name="connsiteY3" fmla="*/ 46558 h 704245"/>
                    <a:gd name="connsiteX4" fmla="*/ 191866 w 438131"/>
                    <a:gd name="connsiteY4" fmla="*/ 65671 h 704245"/>
                    <a:gd name="connsiteX5" fmla="*/ 191866 w 438131"/>
                    <a:gd name="connsiteY5" fmla="*/ 549870 h 704245"/>
                    <a:gd name="connsiteX6" fmla="*/ 134282 w 438131"/>
                    <a:gd name="connsiteY6" fmla="*/ 607454 h 704245"/>
                    <a:gd name="connsiteX7" fmla="*/ 76698 w 438131"/>
                    <a:gd name="connsiteY7" fmla="*/ 549870 h 704245"/>
                    <a:gd name="connsiteX8" fmla="*/ 76698 w 438131"/>
                    <a:gd name="connsiteY8" fmla="*/ 411667 h 704245"/>
                    <a:gd name="connsiteX9" fmla="*/ 54154 w 438131"/>
                    <a:gd name="connsiteY9" fmla="*/ 389124 h 704245"/>
                    <a:gd name="connsiteX10" fmla="*/ 23279 w 438131"/>
                    <a:gd name="connsiteY10" fmla="*/ 389124 h 704245"/>
                    <a:gd name="connsiteX11" fmla="*/ 0 w 438131"/>
                    <a:gd name="connsiteY11" fmla="*/ 365845 h 704245"/>
                    <a:gd name="connsiteX12" fmla="*/ 23279 w 438131"/>
                    <a:gd name="connsiteY12" fmla="*/ 342566 h 704245"/>
                    <a:gd name="connsiteX13" fmla="*/ 54154 w 438131"/>
                    <a:gd name="connsiteY13" fmla="*/ 342566 h 704245"/>
                    <a:gd name="connsiteX14" fmla="*/ 123255 w 438131"/>
                    <a:gd name="connsiteY14" fmla="*/ 411667 h 704245"/>
                    <a:gd name="connsiteX15" fmla="*/ 123255 w 438131"/>
                    <a:gd name="connsiteY15" fmla="*/ 549870 h 704245"/>
                    <a:gd name="connsiteX16" fmla="*/ 134282 w 438131"/>
                    <a:gd name="connsiteY16" fmla="*/ 560897 h 704245"/>
                    <a:gd name="connsiteX17" fmla="*/ 145309 w 438131"/>
                    <a:gd name="connsiteY17" fmla="*/ 549870 h 704245"/>
                    <a:gd name="connsiteX18" fmla="*/ 145309 w 438131"/>
                    <a:gd name="connsiteY18" fmla="*/ 65671 h 704245"/>
                    <a:gd name="connsiteX19" fmla="*/ 210979 w 438131"/>
                    <a:gd name="connsiteY19" fmla="*/ 0 h 704245"/>
                    <a:gd name="connsiteX20" fmla="*/ 276650 w 438131"/>
                    <a:gd name="connsiteY20" fmla="*/ 65671 h 704245"/>
                    <a:gd name="connsiteX21" fmla="*/ 276650 w 438131"/>
                    <a:gd name="connsiteY21" fmla="*/ 638574 h 704245"/>
                    <a:gd name="connsiteX22" fmla="*/ 295763 w 438131"/>
                    <a:gd name="connsiteY22" fmla="*/ 657687 h 704245"/>
                    <a:gd name="connsiteX23" fmla="*/ 314876 w 438131"/>
                    <a:gd name="connsiteY23" fmla="*/ 638574 h 704245"/>
                    <a:gd name="connsiteX24" fmla="*/ 314876 w 438131"/>
                    <a:gd name="connsiteY24" fmla="*/ 404561 h 704245"/>
                    <a:gd name="connsiteX25" fmla="*/ 383978 w 438131"/>
                    <a:gd name="connsiteY25" fmla="*/ 335460 h 704245"/>
                    <a:gd name="connsiteX26" fmla="*/ 414853 w 438131"/>
                    <a:gd name="connsiteY26" fmla="*/ 335460 h 704245"/>
                    <a:gd name="connsiteX27" fmla="*/ 438132 w 438131"/>
                    <a:gd name="connsiteY27" fmla="*/ 358739 h 704245"/>
                    <a:gd name="connsiteX28" fmla="*/ 414853 w 438131"/>
                    <a:gd name="connsiteY28" fmla="*/ 382017 h 704245"/>
                    <a:gd name="connsiteX29" fmla="*/ 383978 w 438131"/>
                    <a:gd name="connsiteY29" fmla="*/ 382017 h 704245"/>
                    <a:gd name="connsiteX30" fmla="*/ 361434 w 438131"/>
                    <a:gd name="connsiteY30" fmla="*/ 404561 h 704245"/>
                    <a:gd name="connsiteX31" fmla="*/ 361434 w 438131"/>
                    <a:gd name="connsiteY31" fmla="*/ 638574 h 704245"/>
                    <a:gd name="connsiteX32" fmla="*/ 295763 w 438131"/>
                    <a:gd name="connsiteY32" fmla="*/ 704245 h 704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38131" h="704245">
                      <a:moveTo>
                        <a:pt x="295763" y="704245"/>
                      </a:moveTo>
                      <a:cubicBezTo>
                        <a:pt x="259497" y="704245"/>
                        <a:pt x="230093" y="674840"/>
                        <a:pt x="230093" y="638574"/>
                      </a:cubicBezTo>
                      <a:lnTo>
                        <a:pt x="230093" y="65671"/>
                      </a:lnTo>
                      <a:cubicBezTo>
                        <a:pt x="230093" y="55134"/>
                        <a:pt x="221516" y="46558"/>
                        <a:pt x="210979" y="46558"/>
                      </a:cubicBezTo>
                      <a:cubicBezTo>
                        <a:pt x="200443" y="46558"/>
                        <a:pt x="191866" y="55134"/>
                        <a:pt x="191866" y="65671"/>
                      </a:cubicBezTo>
                      <a:lnTo>
                        <a:pt x="191866" y="549870"/>
                      </a:lnTo>
                      <a:cubicBezTo>
                        <a:pt x="191866" y="581725"/>
                        <a:pt x="166137" y="607454"/>
                        <a:pt x="134282" y="607454"/>
                      </a:cubicBezTo>
                      <a:cubicBezTo>
                        <a:pt x="102427" y="607454"/>
                        <a:pt x="76698" y="581725"/>
                        <a:pt x="76698" y="549870"/>
                      </a:cubicBezTo>
                      <a:lnTo>
                        <a:pt x="76698" y="411667"/>
                      </a:lnTo>
                      <a:cubicBezTo>
                        <a:pt x="76698" y="399170"/>
                        <a:pt x="66651" y="389124"/>
                        <a:pt x="54154" y="389124"/>
                      </a:cubicBezTo>
                      <a:lnTo>
                        <a:pt x="23279" y="389124"/>
                      </a:lnTo>
                      <a:cubicBezTo>
                        <a:pt x="10537" y="389124"/>
                        <a:pt x="0" y="378587"/>
                        <a:pt x="0" y="365845"/>
                      </a:cubicBezTo>
                      <a:cubicBezTo>
                        <a:pt x="0" y="353103"/>
                        <a:pt x="10537" y="342566"/>
                        <a:pt x="23279" y="342566"/>
                      </a:cubicBezTo>
                      <a:lnTo>
                        <a:pt x="54154" y="342566"/>
                      </a:lnTo>
                      <a:cubicBezTo>
                        <a:pt x="92135" y="342566"/>
                        <a:pt x="123255" y="373686"/>
                        <a:pt x="123255" y="411667"/>
                      </a:cubicBezTo>
                      <a:lnTo>
                        <a:pt x="123255" y="549870"/>
                      </a:lnTo>
                      <a:cubicBezTo>
                        <a:pt x="123255" y="555751"/>
                        <a:pt x="128401" y="560897"/>
                        <a:pt x="134282" y="560897"/>
                      </a:cubicBezTo>
                      <a:cubicBezTo>
                        <a:pt x="140163" y="560897"/>
                        <a:pt x="145309" y="555751"/>
                        <a:pt x="145309" y="549870"/>
                      </a:cubicBezTo>
                      <a:lnTo>
                        <a:pt x="145309" y="65671"/>
                      </a:lnTo>
                      <a:cubicBezTo>
                        <a:pt x="145309" y="29405"/>
                        <a:pt x="174714" y="0"/>
                        <a:pt x="210979" y="0"/>
                      </a:cubicBezTo>
                      <a:cubicBezTo>
                        <a:pt x="247245" y="0"/>
                        <a:pt x="276650" y="29405"/>
                        <a:pt x="276650" y="65671"/>
                      </a:cubicBezTo>
                      <a:lnTo>
                        <a:pt x="276650" y="638574"/>
                      </a:lnTo>
                      <a:cubicBezTo>
                        <a:pt x="276650" y="649111"/>
                        <a:pt x="285227" y="657687"/>
                        <a:pt x="295763" y="657687"/>
                      </a:cubicBezTo>
                      <a:cubicBezTo>
                        <a:pt x="306300" y="657687"/>
                        <a:pt x="314876" y="649111"/>
                        <a:pt x="314876" y="638574"/>
                      </a:cubicBezTo>
                      <a:lnTo>
                        <a:pt x="314876" y="404561"/>
                      </a:lnTo>
                      <a:cubicBezTo>
                        <a:pt x="314876" y="366580"/>
                        <a:pt x="345997" y="335460"/>
                        <a:pt x="383978" y="335460"/>
                      </a:cubicBezTo>
                      <a:lnTo>
                        <a:pt x="414853" y="335460"/>
                      </a:lnTo>
                      <a:cubicBezTo>
                        <a:pt x="427595" y="335460"/>
                        <a:pt x="438132" y="345996"/>
                        <a:pt x="438132" y="358739"/>
                      </a:cubicBezTo>
                      <a:cubicBezTo>
                        <a:pt x="438132" y="371481"/>
                        <a:pt x="427595" y="382017"/>
                        <a:pt x="414853" y="382017"/>
                      </a:cubicBezTo>
                      <a:lnTo>
                        <a:pt x="383978" y="382017"/>
                      </a:lnTo>
                      <a:cubicBezTo>
                        <a:pt x="371481" y="382017"/>
                        <a:pt x="361434" y="392064"/>
                        <a:pt x="361434" y="404561"/>
                      </a:cubicBezTo>
                      <a:lnTo>
                        <a:pt x="361434" y="638574"/>
                      </a:lnTo>
                      <a:cubicBezTo>
                        <a:pt x="361434" y="674840"/>
                        <a:pt x="332029" y="704245"/>
                        <a:pt x="295763" y="704245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84F4FDFE-A761-6494-0FC8-EC50A79A79BC}"/>
                </a:ext>
              </a:extLst>
            </p:cNvPr>
            <p:cNvSpPr txBox="1">
              <a:spLocks/>
            </p:cNvSpPr>
            <p:nvPr/>
          </p:nvSpPr>
          <p:spPr>
            <a:xfrm>
              <a:off x="3515474" y="725864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Challenges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AE170D-46C2-5BD9-2523-AECF574D552D}"/>
              </a:ext>
            </a:extLst>
          </p:cNvPr>
          <p:cNvSpPr txBox="1"/>
          <p:nvPr/>
        </p:nvSpPr>
        <p:spPr>
          <a:xfrm>
            <a:off x="3151001" y="1326532"/>
            <a:ext cx="3700100" cy="23391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defTabSz="914065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2"/>
                </a:solidFill>
              </a:rPr>
              <a:t>The client did not have access to a single point of view that measured the marketing effectiveness of various media sources to drive App downloads.</a:t>
            </a:r>
          </a:p>
          <a:p>
            <a:pPr marL="171450" indent="-171450" defTabSz="914065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2"/>
                </a:solidFill>
              </a:rPr>
              <a:t>The marketing team required forecasted incremental revenues through App downloads in the short-term and long-term horizons to inform annual budgets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2"/>
                </a:solidFill>
              </a:rPr>
              <a:t>Conduct a comprehensive analysis to measure the long-term incremental effect on sales revenue after installing the App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2"/>
                </a:solidFill>
              </a:rPr>
              <a:t>Identify target media sources to increase high value app installs for the next financial year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2"/>
                </a:solidFill>
              </a:rPr>
              <a:t>Create a framework for causal analysis to extend to other measurement areas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FCF3F7-490E-E0A4-1192-BFCACCA3B40F}"/>
              </a:ext>
            </a:extLst>
          </p:cNvPr>
          <p:cNvGrpSpPr/>
          <p:nvPr/>
        </p:nvGrpSpPr>
        <p:grpSpPr>
          <a:xfrm>
            <a:off x="7646973" y="725864"/>
            <a:ext cx="3600956" cy="3162891"/>
            <a:chOff x="3154486" y="3243582"/>
            <a:chExt cx="3600956" cy="31628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F75CFA-40C8-A53B-6C9A-FF04B4EC5E36}"/>
                </a:ext>
              </a:extLst>
            </p:cNvPr>
            <p:cNvGrpSpPr/>
            <p:nvPr/>
          </p:nvGrpSpPr>
          <p:grpSpPr>
            <a:xfrm>
              <a:off x="3154486" y="3243582"/>
              <a:ext cx="3369634" cy="370836"/>
              <a:chOff x="3341677" y="3868850"/>
              <a:chExt cx="3369634" cy="37083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971CA1E-8FD9-79E5-3EBD-B516A9EB64FF}"/>
                  </a:ext>
                </a:extLst>
              </p:cNvPr>
              <p:cNvGrpSpPr/>
              <p:nvPr/>
            </p:nvGrpSpPr>
            <p:grpSpPr>
              <a:xfrm>
                <a:off x="3341677" y="3868850"/>
                <a:ext cx="352529" cy="352529"/>
                <a:chOff x="3341677" y="2042101"/>
                <a:chExt cx="352529" cy="352529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0854A33-4862-9F30-4D09-0ACDBA5B2454}"/>
                    </a:ext>
                  </a:extLst>
                </p:cNvPr>
                <p:cNvSpPr/>
                <p:nvPr/>
              </p:nvSpPr>
              <p:spPr>
                <a:xfrm>
                  <a:off x="3341677" y="2042101"/>
                  <a:ext cx="352529" cy="3525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 sz="1200" b="1">
                    <a:solidFill>
                      <a:schemeClr val="accent4"/>
                    </a:solidFill>
                  </a:endParaRPr>
                </a:p>
              </p:txBody>
            </p:sp>
            <p:pic>
              <p:nvPicPr>
                <p:cNvPr id="19" name="Graphic 18">
                  <a:extLst>
                    <a:ext uri="{FF2B5EF4-FFF2-40B4-BE49-F238E27FC236}">
                      <a16:creationId xmlns:a16="http://schemas.microsoft.com/office/drawing/2014/main" id="{3003F4DE-A539-43BB-02A1-FAB78D888F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61602" y="2080333"/>
                  <a:ext cx="312678" cy="312678"/>
                </a:xfrm>
                <a:prstGeom prst="rect">
                  <a:avLst/>
                </a:prstGeom>
              </p:spPr>
            </p:pic>
          </p:grpSp>
          <p:sp>
            <p:nvSpPr>
              <p:cNvPr id="20" name="Text Placeholder 7">
                <a:extLst>
                  <a:ext uri="{FF2B5EF4-FFF2-40B4-BE49-F238E27FC236}">
                    <a16:creationId xmlns:a16="http://schemas.microsoft.com/office/drawing/2014/main" id="{DD024816-D436-E59C-5089-D5ED251840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02665" y="3887158"/>
                <a:ext cx="3008646" cy="352528"/>
              </a:xfrm>
              <a:prstGeom prst="rect">
                <a:avLst/>
              </a:prstGeom>
            </p:spPr>
            <p:txBody>
              <a:bodyPr vert="horz" lIns="91440" tIns="0" rIns="91440" bIns="0" rtlCol="0" anchor="ctr" anchorCtr="0">
                <a:normAutofit/>
              </a:bodyPr>
              <a:lstStyle>
                <a:lvl1pPr marL="0" indent="0" algn="l" defTabSz="91397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481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9480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6466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350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492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467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>
                    <a:solidFill>
                      <a:schemeClr val="bg2"/>
                    </a:solidFill>
                  </a:rPr>
                  <a:t>Solutions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2A6DF3-1A2C-1880-83B2-ABAE08F77CD4}"/>
                </a:ext>
              </a:extLst>
            </p:cNvPr>
            <p:cNvSpPr txBox="1"/>
            <p:nvPr/>
          </p:nvSpPr>
          <p:spPr>
            <a:xfrm>
              <a:off x="3154486" y="3821150"/>
              <a:ext cx="3600956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Causal inference techniques were used to construct a synthetic control group of customers that is statistically identical to customers who downloaded the App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Pre period covariate balancing methods were used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Leveraged big data techniques to build effective data pipelines in GCP and </a:t>
              </a:r>
              <a:r>
                <a:rPr lang="en-US" sz="1100" err="1">
                  <a:solidFill>
                    <a:schemeClr val="bg2"/>
                  </a:solidFill>
                </a:rPr>
                <a:t>PySpark</a:t>
              </a:r>
              <a:endParaRPr lang="en-US" sz="1100">
                <a:solidFill>
                  <a:schemeClr val="bg2"/>
                </a:solidFill>
              </a:endParaRP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Generated confidence intervals estimates and conducted tests of significance using bootstrapping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Calculated incremental revenue for 6 months and 1-year intervals for the previous year downloads</a:t>
              </a:r>
            </a:p>
            <a:p>
              <a:pPr marL="17145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Forecasted incremental revenue for 6 months and 1-year intervals for the current year downloads</a:t>
              </a:r>
            </a:p>
          </p:txBody>
        </p:sp>
      </p:grp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4B1DAEA4-71FA-BDEA-3C6F-685EE63F4A22}"/>
              </a:ext>
            </a:extLst>
          </p:cNvPr>
          <p:cNvSpPr txBox="1">
            <a:spLocks/>
          </p:cNvSpPr>
          <p:nvPr/>
        </p:nvSpPr>
        <p:spPr>
          <a:xfrm>
            <a:off x="252413" y="2504445"/>
            <a:ext cx="2415373" cy="1382713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397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481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480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466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0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492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467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spc="100"/>
              <a:t>Estimation of incremental revenue post an app download through Synthetic Control Matching</a:t>
            </a:r>
          </a:p>
        </p:txBody>
      </p:sp>
      <p:sp>
        <p:nvSpPr>
          <p:cNvPr id="59" name="Rectangle: Rounded Corners 25">
            <a:extLst>
              <a:ext uri="{FF2B5EF4-FFF2-40B4-BE49-F238E27FC236}">
                <a16:creationId xmlns:a16="http://schemas.microsoft.com/office/drawing/2014/main" id="{98F81182-60EB-096B-B4FE-4B9A8F9A08BD}"/>
              </a:ext>
            </a:extLst>
          </p:cNvPr>
          <p:cNvSpPr/>
          <p:nvPr/>
        </p:nvSpPr>
        <p:spPr>
          <a:xfrm>
            <a:off x="3151001" y="4313098"/>
            <a:ext cx="3110651" cy="46179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65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schemeClr val="bg2"/>
                </a:solidFill>
              </a:rPr>
              <a:t>Why Synthetic Control?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5091D3-9C71-A6A5-C3CF-1658025CF318}"/>
              </a:ext>
            </a:extLst>
          </p:cNvPr>
          <p:cNvSpPr txBox="1"/>
          <p:nvPr/>
        </p:nvSpPr>
        <p:spPr>
          <a:xfrm>
            <a:off x="3151000" y="4963944"/>
            <a:ext cx="35249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Mimic a test control analysis where a control group is not possible; Constructing a randomized A/B test would not be possible</a:t>
            </a:r>
          </a:p>
          <a:p>
            <a:pPr marL="171450" lvl="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Generate a valid baseline that is statistically identical to the Treatment group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7A8C31-8F2B-419B-C7C3-2692A6942A11}"/>
              </a:ext>
            </a:extLst>
          </p:cNvPr>
          <p:cNvGrpSpPr/>
          <p:nvPr/>
        </p:nvGrpSpPr>
        <p:grpSpPr>
          <a:xfrm>
            <a:off x="7657890" y="4579657"/>
            <a:ext cx="3369634" cy="362746"/>
            <a:chOff x="8586322" y="1605610"/>
            <a:chExt cx="3369634" cy="362746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BE3AC0CA-813B-4A4D-476A-42C9AD0B5313}"/>
                </a:ext>
              </a:extLst>
            </p:cNvPr>
            <p:cNvSpPr txBox="1">
              <a:spLocks/>
            </p:cNvSpPr>
            <p:nvPr/>
          </p:nvSpPr>
          <p:spPr>
            <a:xfrm>
              <a:off x="8947310" y="1615828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Impacts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4C348DC-C25D-70FB-9FAF-B6B79728BD87}"/>
                </a:ext>
              </a:extLst>
            </p:cNvPr>
            <p:cNvGrpSpPr/>
            <p:nvPr/>
          </p:nvGrpSpPr>
          <p:grpSpPr>
            <a:xfrm>
              <a:off x="8586322" y="1605610"/>
              <a:ext cx="352529" cy="352529"/>
              <a:chOff x="3341677" y="4153738"/>
              <a:chExt cx="352529" cy="352529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3D8F67-A028-BC10-D74D-0AEBE3C7B777}"/>
                  </a:ext>
                </a:extLst>
              </p:cNvPr>
              <p:cNvSpPr/>
              <p:nvPr/>
            </p:nvSpPr>
            <p:spPr>
              <a:xfrm>
                <a:off x="3341677" y="4153738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F5696425-02FD-EEF3-F921-F9ECE20A8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84154" y="4196215"/>
                <a:ext cx="267575" cy="267575"/>
              </a:xfrm>
              <a:prstGeom prst="rect">
                <a:avLst/>
              </a:prstGeom>
            </p:spPr>
          </p:pic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EBA1DC3-DBD9-E5BC-9403-BA0E07E2D8D2}"/>
              </a:ext>
            </a:extLst>
          </p:cNvPr>
          <p:cNvSpPr txBox="1"/>
          <p:nvPr/>
        </p:nvSpPr>
        <p:spPr>
          <a:xfrm>
            <a:off x="7610075" y="5001811"/>
            <a:ext cx="375588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Developed the analysis for ~15MM downloads per year and estimated incremental lift of 38% in revenue through app downloads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Identified high value media sources to advise future annual media spend strategy</a:t>
            </a:r>
          </a:p>
        </p:txBody>
      </p:sp>
    </p:spTree>
    <p:extLst>
      <p:ext uri="{BB962C8B-B14F-4D97-AF65-F5344CB8AC3E}">
        <p14:creationId xmlns:p14="http://schemas.microsoft.com/office/powerpoint/2010/main" val="399122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3B5533-77EF-50FF-FA8D-8E970A16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2977650" cy="1331903"/>
          </a:xfrm>
        </p:spPr>
        <p:txBody>
          <a:bodyPr/>
          <a:lstStyle/>
          <a:p>
            <a:r>
              <a:rPr lang="en-US" sz="2400">
                <a:latin typeface="PP Telegraf"/>
              </a:rPr>
              <a:t>Sophisticated causal measurement in Fortune 50 Retail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E0436-EF8D-1200-0AF5-F999378C390D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9C9CA7-65F1-D483-FBB6-21E342DB4009}"/>
              </a:ext>
            </a:extLst>
          </p:cNvPr>
          <p:cNvGrpSpPr/>
          <p:nvPr/>
        </p:nvGrpSpPr>
        <p:grpSpPr>
          <a:xfrm>
            <a:off x="3154486" y="725864"/>
            <a:ext cx="3369634" cy="352529"/>
            <a:chOff x="3154486" y="725864"/>
            <a:chExt cx="3369634" cy="3525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8DAEB5-A9FF-C53A-9D42-B81B469D74EF}"/>
                </a:ext>
              </a:extLst>
            </p:cNvPr>
            <p:cNvGrpSpPr/>
            <p:nvPr/>
          </p:nvGrpSpPr>
          <p:grpSpPr>
            <a:xfrm>
              <a:off x="3154486" y="725864"/>
              <a:ext cx="352529" cy="352529"/>
              <a:chOff x="3341677" y="300865"/>
              <a:chExt cx="352529" cy="35252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61F800A-FB90-FD4C-5ED7-CD2EC2296587}"/>
                  </a:ext>
                </a:extLst>
              </p:cNvPr>
              <p:cNvSpPr/>
              <p:nvPr/>
            </p:nvSpPr>
            <p:spPr>
              <a:xfrm>
                <a:off x="3341677" y="300865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grpSp>
            <p:nvGrpSpPr>
              <p:cNvPr id="11" name="Graphic 159">
                <a:extLst>
                  <a:ext uri="{FF2B5EF4-FFF2-40B4-BE49-F238E27FC236}">
                    <a16:creationId xmlns:a16="http://schemas.microsoft.com/office/drawing/2014/main" id="{D576562D-26BE-26FC-C2C7-7416B647310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16808" y="375995"/>
                <a:ext cx="202267" cy="202268"/>
                <a:chOff x="3039690" y="3963730"/>
                <a:chExt cx="704244" cy="704245"/>
              </a:xfrm>
              <a:solidFill>
                <a:schemeClr val="accent1"/>
              </a:solidFill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2DD5D42D-B1BE-5339-0AE4-4B800BBE7364}"/>
                    </a:ext>
                  </a:extLst>
                </p:cNvPr>
                <p:cNvSpPr/>
                <p:nvPr/>
              </p:nvSpPr>
              <p:spPr>
                <a:xfrm>
                  <a:off x="3567996" y="4226903"/>
                  <a:ext cx="175938" cy="175938"/>
                </a:xfrm>
                <a:custGeom>
                  <a:avLst/>
                  <a:gdLst>
                    <a:gd name="connsiteX0" fmla="*/ 87969 w 175938"/>
                    <a:gd name="connsiteY0" fmla="*/ 175939 h 175938"/>
                    <a:gd name="connsiteX1" fmla="*/ 0 w 175938"/>
                    <a:gd name="connsiteY1" fmla="*/ 87969 h 175938"/>
                    <a:gd name="connsiteX2" fmla="*/ 87969 w 175938"/>
                    <a:gd name="connsiteY2" fmla="*/ 0 h 175938"/>
                    <a:gd name="connsiteX3" fmla="*/ 175939 w 175938"/>
                    <a:gd name="connsiteY3" fmla="*/ 87969 h 175938"/>
                    <a:gd name="connsiteX4" fmla="*/ 87969 w 175938"/>
                    <a:gd name="connsiteY4" fmla="*/ 175939 h 175938"/>
                    <a:gd name="connsiteX5" fmla="*/ 87969 w 175938"/>
                    <a:gd name="connsiteY5" fmla="*/ 46558 h 175938"/>
                    <a:gd name="connsiteX6" fmla="*/ 46558 w 175938"/>
                    <a:gd name="connsiteY6" fmla="*/ 87969 h 175938"/>
                    <a:gd name="connsiteX7" fmla="*/ 87969 w 175938"/>
                    <a:gd name="connsiteY7" fmla="*/ 129381 h 175938"/>
                    <a:gd name="connsiteX8" fmla="*/ 129381 w 175938"/>
                    <a:gd name="connsiteY8" fmla="*/ 87969 h 175938"/>
                    <a:gd name="connsiteX9" fmla="*/ 87969 w 175938"/>
                    <a:gd name="connsiteY9" fmla="*/ 46558 h 17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938" h="175938">
                      <a:moveTo>
                        <a:pt x="87969" y="175939"/>
                      </a:moveTo>
                      <a:cubicBezTo>
                        <a:pt x="39452" y="175939"/>
                        <a:pt x="0" y="136487"/>
                        <a:pt x="0" y="87969"/>
                      </a:cubicBezTo>
                      <a:cubicBezTo>
                        <a:pt x="0" y="39451"/>
                        <a:pt x="39452" y="0"/>
                        <a:pt x="87969" y="0"/>
                      </a:cubicBezTo>
                      <a:cubicBezTo>
                        <a:pt x="136487" y="0"/>
                        <a:pt x="175939" y="39451"/>
                        <a:pt x="175939" y="87969"/>
                      </a:cubicBezTo>
                      <a:cubicBezTo>
                        <a:pt x="175939" y="136487"/>
                        <a:pt x="136487" y="175939"/>
                        <a:pt x="87969" y="175939"/>
                      </a:cubicBezTo>
                      <a:close/>
                      <a:moveTo>
                        <a:pt x="87969" y="46558"/>
                      </a:moveTo>
                      <a:cubicBezTo>
                        <a:pt x="65181" y="46558"/>
                        <a:pt x="46558" y="65181"/>
                        <a:pt x="46558" y="87969"/>
                      </a:cubicBezTo>
                      <a:cubicBezTo>
                        <a:pt x="46558" y="110758"/>
                        <a:pt x="65181" y="129381"/>
                        <a:pt x="87969" y="129381"/>
                      </a:cubicBezTo>
                      <a:cubicBezTo>
                        <a:pt x="110758" y="129381"/>
                        <a:pt x="129381" y="110758"/>
                        <a:pt x="129381" y="87969"/>
                      </a:cubicBezTo>
                      <a:cubicBezTo>
                        <a:pt x="129381" y="65181"/>
                        <a:pt x="110758" y="46558"/>
                        <a:pt x="87969" y="46558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4">
                  <a:extLst>
                    <a:ext uri="{FF2B5EF4-FFF2-40B4-BE49-F238E27FC236}">
                      <a16:creationId xmlns:a16="http://schemas.microsoft.com/office/drawing/2014/main" id="{754D4F60-1F50-C56D-6C29-8C56084C7ED5}"/>
                    </a:ext>
                  </a:extLst>
                </p:cNvPr>
                <p:cNvSpPr/>
                <p:nvPr/>
              </p:nvSpPr>
              <p:spPr>
                <a:xfrm>
                  <a:off x="3039690" y="4238175"/>
                  <a:ext cx="182554" cy="182554"/>
                </a:xfrm>
                <a:custGeom>
                  <a:avLst/>
                  <a:gdLst>
                    <a:gd name="connsiteX0" fmla="*/ 159276 w 182554"/>
                    <a:gd name="connsiteY0" fmla="*/ 182555 h 182554"/>
                    <a:gd name="connsiteX1" fmla="*/ 23279 w 182554"/>
                    <a:gd name="connsiteY1" fmla="*/ 182555 h 182554"/>
                    <a:gd name="connsiteX2" fmla="*/ 0 w 182554"/>
                    <a:gd name="connsiteY2" fmla="*/ 159276 h 182554"/>
                    <a:gd name="connsiteX3" fmla="*/ 0 w 182554"/>
                    <a:gd name="connsiteY3" fmla="*/ 23279 h 182554"/>
                    <a:gd name="connsiteX4" fmla="*/ 23279 w 182554"/>
                    <a:gd name="connsiteY4" fmla="*/ 0 h 182554"/>
                    <a:gd name="connsiteX5" fmla="*/ 159276 w 182554"/>
                    <a:gd name="connsiteY5" fmla="*/ 0 h 182554"/>
                    <a:gd name="connsiteX6" fmla="*/ 182555 w 182554"/>
                    <a:gd name="connsiteY6" fmla="*/ 23279 h 182554"/>
                    <a:gd name="connsiteX7" fmla="*/ 182555 w 182554"/>
                    <a:gd name="connsiteY7" fmla="*/ 159276 h 182554"/>
                    <a:gd name="connsiteX8" fmla="*/ 159276 w 182554"/>
                    <a:gd name="connsiteY8" fmla="*/ 182555 h 182554"/>
                    <a:gd name="connsiteX9" fmla="*/ 46558 w 182554"/>
                    <a:gd name="connsiteY9" fmla="*/ 135997 h 182554"/>
                    <a:gd name="connsiteX10" fmla="*/ 135997 w 182554"/>
                    <a:gd name="connsiteY10" fmla="*/ 135997 h 182554"/>
                    <a:gd name="connsiteX11" fmla="*/ 135997 w 182554"/>
                    <a:gd name="connsiteY11" fmla="*/ 46558 h 182554"/>
                    <a:gd name="connsiteX12" fmla="*/ 46558 w 182554"/>
                    <a:gd name="connsiteY12" fmla="*/ 46558 h 182554"/>
                    <a:gd name="connsiteX13" fmla="*/ 46558 w 182554"/>
                    <a:gd name="connsiteY13" fmla="*/ 135997 h 182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2554" h="182554">
                      <a:moveTo>
                        <a:pt x="159276" y="182555"/>
                      </a:moveTo>
                      <a:lnTo>
                        <a:pt x="23279" y="182555"/>
                      </a:lnTo>
                      <a:cubicBezTo>
                        <a:pt x="10537" y="182555"/>
                        <a:pt x="0" y="172018"/>
                        <a:pt x="0" y="159276"/>
                      </a:cubicBezTo>
                      <a:lnTo>
                        <a:pt x="0" y="23279"/>
                      </a:lnTo>
                      <a:cubicBezTo>
                        <a:pt x="0" y="10537"/>
                        <a:pt x="10537" y="0"/>
                        <a:pt x="23279" y="0"/>
                      </a:cubicBezTo>
                      <a:lnTo>
                        <a:pt x="159276" y="0"/>
                      </a:lnTo>
                      <a:cubicBezTo>
                        <a:pt x="172018" y="0"/>
                        <a:pt x="182555" y="10537"/>
                        <a:pt x="182555" y="23279"/>
                      </a:cubicBezTo>
                      <a:lnTo>
                        <a:pt x="182555" y="159276"/>
                      </a:lnTo>
                      <a:cubicBezTo>
                        <a:pt x="182555" y="172018"/>
                        <a:pt x="172018" y="182555"/>
                        <a:pt x="159276" y="182555"/>
                      </a:cubicBezTo>
                      <a:close/>
                      <a:moveTo>
                        <a:pt x="46558" y="135997"/>
                      </a:moveTo>
                      <a:lnTo>
                        <a:pt x="135997" y="135997"/>
                      </a:lnTo>
                      <a:lnTo>
                        <a:pt x="135997" y="46558"/>
                      </a:lnTo>
                      <a:lnTo>
                        <a:pt x="46558" y="46558"/>
                      </a:lnTo>
                      <a:lnTo>
                        <a:pt x="46558" y="135997"/>
                      </a:ln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 15">
                  <a:extLst>
                    <a:ext uri="{FF2B5EF4-FFF2-40B4-BE49-F238E27FC236}">
                      <a16:creationId xmlns:a16="http://schemas.microsoft.com/office/drawing/2014/main" id="{E5EFF7E0-7B5C-116C-54A4-2DFA70743C62}"/>
                    </a:ext>
                  </a:extLst>
                </p:cNvPr>
                <p:cNvSpPr/>
                <p:nvPr/>
              </p:nvSpPr>
              <p:spPr>
                <a:xfrm>
                  <a:off x="3175932" y="3963730"/>
                  <a:ext cx="438131" cy="704245"/>
                </a:xfrm>
                <a:custGeom>
                  <a:avLst/>
                  <a:gdLst>
                    <a:gd name="connsiteX0" fmla="*/ 295763 w 438131"/>
                    <a:gd name="connsiteY0" fmla="*/ 704245 h 704245"/>
                    <a:gd name="connsiteX1" fmla="*/ 230093 w 438131"/>
                    <a:gd name="connsiteY1" fmla="*/ 638574 h 704245"/>
                    <a:gd name="connsiteX2" fmla="*/ 230093 w 438131"/>
                    <a:gd name="connsiteY2" fmla="*/ 65671 h 704245"/>
                    <a:gd name="connsiteX3" fmla="*/ 210979 w 438131"/>
                    <a:gd name="connsiteY3" fmla="*/ 46558 h 704245"/>
                    <a:gd name="connsiteX4" fmla="*/ 191866 w 438131"/>
                    <a:gd name="connsiteY4" fmla="*/ 65671 h 704245"/>
                    <a:gd name="connsiteX5" fmla="*/ 191866 w 438131"/>
                    <a:gd name="connsiteY5" fmla="*/ 549870 h 704245"/>
                    <a:gd name="connsiteX6" fmla="*/ 134282 w 438131"/>
                    <a:gd name="connsiteY6" fmla="*/ 607454 h 704245"/>
                    <a:gd name="connsiteX7" fmla="*/ 76698 w 438131"/>
                    <a:gd name="connsiteY7" fmla="*/ 549870 h 704245"/>
                    <a:gd name="connsiteX8" fmla="*/ 76698 w 438131"/>
                    <a:gd name="connsiteY8" fmla="*/ 411667 h 704245"/>
                    <a:gd name="connsiteX9" fmla="*/ 54154 w 438131"/>
                    <a:gd name="connsiteY9" fmla="*/ 389124 h 704245"/>
                    <a:gd name="connsiteX10" fmla="*/ 23279 w 438131"/>
                    <a:gd name="connsiteY10" fmla="*/ 389124 h 704245"/>
                    <a:gd name="connsiteX11" fmla="*/ 0 w 438131"/>
                    <a:gd name="connsiteY11" fmla="*/ 365845 h 704245"/>
                    <a:gd name="connsiteX12" fmla="*/ 23279 w 438131"/>
                    <a:gd name="connsiteY12" fmla="*/ 342566 h 704245"/>
                    <a:gd name="connsiteX13" fmla="*/ 54154 w 438131"/>
                    <a:gd name="connsiteY13" fmla="*/ 342566 h 704245"/>
                    <a:gd name="connsiteX14" fmla="*/ 123255 w 438131"/>
                    <a:gd name="connsiteY14" fmla="*/ 411667 h 704245"/>
                    <a:gd name="connsiteX15" fmla="*/ 123255 w 438131"/>
                    <a:gd name="connsiteY15" fmla="*/ 549870 h 704245"/>
                    <a:gd name="connsiteX16" fmla="*/ 134282 w 438131"/>
                    <a:gd name="connsiteY16" fmla="*/ 560897 h 704245"/>
                    <a:gd name="connsiteX17" fmla="*/ 145309 w 438131"/>
                    <a:gd name="connsiteY17" fmla="*/ 549870 h 704245"/>
                    <a:gd name="connsiteX18" fmla="*/ 145309 w 438131"/>
                    <a:gd name="connsiteY18" fmla="*/ 65671 h 704245"/>
                    <a:gd name="connsiteX19" fmla="*/ 210979 w 438131"/>
                    <a:gd name="connsiteY19" fmla="*/ 0 h 704245"/>
                    <a:gd name="connsiteX20" fmla="*/ 276650 w 438131"/>
                    <a:gd name="connsiteY20" fmla="*/ 65671 h 704245"/>
                    <a:gd name="connsiteX21" fmla="*/ 276650 w 438131"/>
                    <a:gd name="connsiteY21" fmla="*/ 638574 h 704245"/>
                    <a:gd name="connsiteX22" fmla="*/ 295763 w 438131"/>
                    <a:gd name="connsiteY22" fmla="*/ 657687 h 704245"/>
                    <a:gd name="connsiteX23" fmla="*/ 314876 w 438131"/>
                    <a:gd name="connsiteY23" fmla="*/ 638574 h 704245"/>
                    <a:gd name="connsiteX24" fmla="*/ 314876 w 438131"/>
                    <a:gd name="connsiteY24" fmla="*/ 404561 h 704245"/>
                    <a:gd name="connsiteX25" fmla="*/ 383978 w 438131"/>
                    <a:gd name="connsiteY25" fmla="*/ 335460 h 704245"/>
                    <a:gd name="connsiteX26" fmla="*/ 414853 w 438131"/>
                    <a:gd name="connsiteY26" fmla="*/ 335460 h 704245"/>
                    <a:gd name="connsiteX27" fmla="*/ 438132 w 438131"/>
                    <a:gd name="connsiteY27" fmla="*/ 358739 h 704245"/>
                    <a:gd name="connsiteX28" fmla="*/ 414853 w 438131"/>
                    <a:gd name="connsiteY28" fmla="*/ 382017 h 704245"/>
                    <a:gd name="connsiteX29" fmla="*/ 383978 w 438131"/>
                    <a:gd name="connsiteY29" fmla="*/ 382017 h 704245"/>
                    <a:gd name="connsiteX30" fmla="*/ 361434 w 438131"/>
                    <a:gd name="connsiteY30" fmla="*/ 404561 h 704245"/>
                    <a:gd name="connsiteX31" fmla="*/ 361434 w 438131"/>
                    <a:gd name="connsiteY31" fmla="*/ 638574 h 704245"/>
                    <a:gd name="connsiteX32" fmla="*/ 295763 w 438131"/>
                    <a:gd name="connsiteY32" fmla="*/ 704245 h 704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38131" h="704245">
                      <a:moveTo>
                        <a:pt x="295763" y="704245"/>
                      </a:moveTo>
                      <a:cubicBezTo>
                        <a:pt x="259497" y="704245"/>
                        <a:pt x="230093" y="674840"/>
                        <a:pt x="230093" y="638574"/>
                      </a:cubicBezTo>
                      <a:lnTo>
                        <a:pt x="230093" y="65671"/>
                      </a:lnTo>
                      <a:cubicBezTo>
                        <a:pt x="230093" y="55134"/>
                        <a:pt x="221516" y="46558"/>
                        <a:pt x="210979" y="46558"/>
                      </a:cubicBezTo>
                      <a:cubicBezTo>
                        <a:pt x="200443" y="46558"/>
                        <a:pt x="191866" y="55134"/>
                        <a:pt x="191866" y="65671"/>
                      </a:cubicBezTo>
                      <a:lnTo>
                        <a:pt x="191866" y="549870"/>
                      </a:lnTo>
                      <a:cubicBezTo>
                        <a:pt x="191866" y="581725"/>
                        <a:pt x="166137" y="607454"/>
                        <a:pt x="134282" y="607454"/>
                      </a:cubicBezTo>
                      <a:cubicBezTo>
                        <a:pt x="102427" y="607454"/>
                        <a:pt x="76698" y="581725"/>
                        <a:pt x="76698" y="549870"/>
                      </a:cubicBezTo>
                      <a:lnTo>
                        <a:pt x="76698" y="411667"/>
                      </a:lnTo>
                      <a:cubicBezTo>
                        <a:pt x="76698" y="399170"/>
                        <a:pt x="66651" y="389124"/>
                        <a:pt x="54154" y="389124"/>
                      </a:cubicBezTo>
                      <a:lnTo>
                        <a:pt x="23279" y="389124"/>
                      </a:lnTo>
                      <a:cubicBezTo>
                        <a:pt x="10537" y="389124"/>
                        <a:pt x="0" y="378587"/>
                        <a:pt x="0" y="365845"/>
                      </a:cubicBezTo>
                      <a:cubicBezTo>
                        <a:pt x="0" y="353103"/>
                        <a:pt x="10537" y="342566"/>
                        <a:pt x="23279" y="342566"/>
                      </a:cubicBezTo>
                      <a:lnTo>
                        <a:pt x="54154" y="342566"/>
                      </a:lnTo>
                      <a:cubicBezTo>
                        <a:pt x="92135" y="342566"/>
                        <a:pt x="123255" y="373686"/>
                        <a:pt x="123255" y="411667"/>
                      </a:cubicBezTo>
                      <a:lnTo>
                        <a:pt x="123255" y="549870"/>
                      </a:lnTo>
                      <a:cubicBezTo>
                        <a:pt x="123255" y="555751"/>
                        <a:pt x="128401" y="560897"/>
                        <a:pt x="134282" y="560897"/>
                      </a:cubicBezTo>
                      <a:cubicBezTo>
                        <a:pt x="140163" y="560897"/>
                        <a:pt x="145309" y="555751"/>
                        <a:pt x="145309" y="549870"/>
                      </a:cubicBezTo>
                      <a:lnTo>
                        <a:pt x="145309" y="65671"/>
                      </a:lnTo>
                      <a:cubicBezTo>
                        <a:pt x="145309" y="29405"/>
                        <a:pt x="174714" y="0"/>
                        <a:pt x="210979" y="0"/>
                      </a:cubicBezTo>
                      <a:cubicBezTo>
                        <a:pt x="247245" y="0"/>
                        <a:pt x="276650" y="29405"/>
                        <a:pt x="276650" y="65671"/>
                      </a:cubicBezTo>
                      <a:lnTo>
                        <a:pt x="276650" y="638574"/>
                      </a:lnTo>
                      <a:cubicBezTo>
                        <a:pt x="276650" y="649111"/>
                        <a:pt x="285227" y="657687"/>
                        <a:pt x="295763" y="657687"/>
                      </a:cubicBezTo>
                      <a:cubicBezTo>
                        <a:pt x="306300" y="657687"/>
                        <a:pt x="314876" y="649111"/>
                        <a:pt x="314876" y="638574"/>
                      </a:cubicBezTo>
                      <a:lnTo>
                        <a:pt x="314876" y="404561"/>
                      </a:lnTo>
                      <a:cubicBezTo>
                        <a:pt x="314876" y="366580"/>
                        <a:pt x="345997" y="335460"/>
                        <a:pt x="383978" y="335460"/>
                      </a:cubicBezTo>
                      <a:lnTo>
                        <a:pt x="414853" y="335460"/>
                      </a:lnTo>
                      <a:cubicBezTo>
                        <a:pt x="427595" y="335460"/>
                        <a:pt x="438132" y="345996"/>
                        <a:pt x="438132" y="358739"/>
                      </a:cubicBezTo>
                      <a:cubicBezTo>
                        <a:pt x="438132" y="371481"/>
                        <a:pt x="427595" y="382017"/>
                        <a:pt x="414853" y="382017"/>
                      </a:cubicBezTo>
                      <a:lnTo>
                        <a:pt x="383978" y="382017"/>
                      </a:lnTo>
                      <a:cubicBezTo>
                        <a:pt x="371481" y="382017"/>
                        <a:pt x="361434" y="392064"/>
                        <a:pt x="361434" y="404561"/>
                      </a:cubicBezTo>
                      <a:lnTo>
                        <a:pt x="361434" y="638574"/>
                      </a:lnTo>
                      <a:cubicBezTo>
                        <a:pt x="361434" y="674840"/>
                        <a:pt x="332029" y="704245"/>
                        <a:pt x="295763" y="704245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84F4FDFE-A761-6494-0FC8-EC50A79A79BC}"/>
                </a:ext>
              </a:extLst>
            </p:cNvPr>
            <p:cNvSpPr txBox="1">
              <a:spLocks/>
            </p:cNvSpPr>
            <p:nvPr/>
          </p:nvSpPr>
          <p:spPr>
            <a:xfrm>
              <a:off x="3515474" y="725864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Challenges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AE170D-46C2-5BD9-2523-AECF574D552D}"/>
              </a:ext>
            </a:extLst>
          </p:cNvPr>
          <p:cNvSpPr txBox="1"/>
          <p:nvPr/>
        </p:nvSpPr>
        <p:spPr>
          <a:xfrm>
            <a:off x="3151001" y="1309015"/>
            <a:ext cx="4909266" cy="17543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The client did not have access to a single point of view that measured the marketing effectiveness of various media sources to drive App downloads.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The marketing team required forecasted incremental revenues through App downloads in the short-term and long-term horizons to inform annual budgets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Inability to mimic a test control analysis where a control group is not possible and constructing a randomized A/B test would not be possible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Absence of a framework for causal analysis that could be extended to other measurement areas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FCF3F7-490E-E0A4-1192-BFCACCA3B40F}"/>
              </a:ext>
            </a:extLst>
          </p:cNvPr>
          <p:cNvGrpSpPr/>
          <p:nvPr/>
        </p:nvGrpSpPr>
        <p:grpSpPr>
          <a:xfrm>
            <a:off x="3151000" y="3164529"/>
            <a:ext cx="4909265" cy="3523965"/>
            <a:chOff x="3154485" y="3390339"/>
            <a:chExt cx="4909265" cy="35239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F75CFA-40C8-A53B-6C9A-FF04B4EC5E36}"/>
                </a:ext>
              </a:extLst>
            </p:cNvPr>
            <p:cNvGrpSpPr/>
            <p:nvPr/>
          </p:nvGrpSpPr>
          <p:grpSpPr>
            <a:xfrm>
              <a:off x="3154486" y="3390339"/>
              <a:ext cx="3369634" cy="370836"/>
              <a:chOff x="3341677" y="4015607"/>
              <a:chExt cx="3369634" cy="37083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971CA1E-8FD9-79E5-3EBD-B516A9EB64FF}"/>
                  </a:ext>
                </a:extLst>
              </p:cNvPr>
              <p:cNvGrpSpPr/>
              <p:nvPr/>
            </p:nvGrpSpPr>
            <p:grpSpPr>
              <a:xfrm>
                <a:off x="3341677" y="4015607"/>
                <a:ext cx="352529" cy="352529"/>
                <a:chOff x="3341677" y="2188858"/>
                <a:chExt cx="352529" cy="352529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0854A33-4862-9F30-4D09-0ACDBA5B2454}"/>
                    </a:ext>
                  </a:extLst>
                </p:cNvPr>
                <p:cNvSpPr/>
                <p:nvPr/>
              </p:nvSpPr>
              <p:spPr>
                <a:xfrm>
                  <a:off x="3341677" y="2188858"/>
                  <a:ext cx="352529" cy="3525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 sz="1200" b="1">
                    <a:solidFill>
                      <a:schemeClr val="accent4"/>
                    </a:solidFill>
                  </a:endParaRPr>
                </a:p>
              </p:txBody>
            </p:sp>
            <p:pic>
              <p:nvPicPr>
                <p:cNvPr id="19" name="Graphic 18">
                  <a:extLst>
                    <a:ext uri="{FF2B5EF4-FFF2-40B4-BE49-F238E27FC236}">
                      <a16:creationId xmlns:a16="http://schemas.microsoft.com/office/drawing/2014/main" id="{3003F4DE-A539-43BB-02A1-FAB78D888F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61602" y="2204512"/>
                  <a:ext cx="312678" cy="312678"/>
                </a:xfrm>
                <a:prstGeom prst="rect">
                  <a:avLst/>
                </a:prstGeom>
              </p:spPr>
            </p:pic>
          </p:grpSp>
          <p:sp>
            <p:nvSpPr>
              <p:cNvPr id="20" name="Text Placeholder 7">
                <a:extLst>
                  <a:ext uri="{FF2B5EF4-FFF2-40B4-BE49-F238E27FC236}">
                    <a16:creationId xmlns:a16="http://schemas.microsoft.com/office/drawing/2014/main" id="{DD024816-D436-E59C-5089-D5ED251840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02665" y="4033915"/>
                <a:ext cx="3008646" cy="352528"/>
              </a:xfrm>
              <a:prstGeom prst="rect">
                <a:avLst/>
              </a:prstGeom>
            </p:spPr>
            <p:txBody>
              <a:bodyPr vert="horz" lIns="91440" tIns="0" rIns="91440" bIns="0" rtlCol="0" anchor="ctr" anchorCtr="0">
                <a:normAutofit/>
              </a:bodyPr>
              <a:lstStyle>
                <a:lvl1pPr marL="0" indent="0" algn="l" defTabSz="91397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481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9480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6466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350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492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467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>
                    <a:solidFill>
                      <a:schemeClr val="bg2"/>
                    </a:solidFill>
                  </a:rPr>
                  <a:t>Solutions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2A6DF3-1A2C-1880-83B2-ABAE08F77CD4}"/>
                </a:ext>
              </a:extLst>
            </p:cNvPr>
            <p:cNvSpPr txBox="1"/>
            <p:nvPr/>
          </p:nvSpPr>
          <p:spPr>
            <a:xfrm>
              <a:off x="3154485" y="3821150"/>
              <a:ext cx="4909265" cy="30931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Created a plausible counterfactual scenario, enabling a comparison between the treated actual outcome and what would have happened without the intervention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By matching treated and control on pre-intervention characteristics, synthetic control helps mitigate selection bias and provides more reliable causal estimates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Causal inference techniques were used to construct a synthetic control group of customers that is statistically identical to customers who downloaded the App by leveraging store and ecommerce transactions along with demographics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Generated confidence intervals estimates and conducted tests of significance using bootstrapping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Calculated incremental revenue and forecasted incremental revenues for short-term and long-term horizons per media source</a:t>
              </a:r>
            </a:p>
            <a:p>
              <a:pPr marL="17145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Leveraged big data techniques to build effective data pipelines in GCP and </a:t>
              </a:r>
              <a:r>
                <a:rPr lang="en-US" sz="1100" err="1">
                  <a:solidFill>
                    <a:schemeClr val="bg2"/>
                  </a:solidFill>
                </a:rPr>
                <a:t>PySpark</a:t>
              </a:r>
              <a:endParaRPr lang="en-US" sz="1100">
                <a:solidFill>
                  <a:schemeClr val="bg2"/>
                </a:solidFill>
              </a:endParaRPr>
            </a:p>
          </p:txBody>
        </p:sp>
      </p:grp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4B1DAEA4-71FA-BDEA-3C6F-685EE63F4A22}"/>
              </a:ext>
            </a:extLst>
          </p:cNvPr>
          <p:cNvSpPr txBox="1">
            <a:spLocks/>
          </p:cNvSpPr>
          <p:nvPr/>
        </p:nvSpPr>
        <p:spPr>
          <a:xfrm>
            <a:off x="231484" y="1532600"/>
            <a:ext cx="2714915" cy="2993244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397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481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480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466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0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492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467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spc="100"/>
              <a:t>Blend innovated measurement techniques to estimate incremental revenue post an app download per media source through Synthetic Control Matching to inform annual marketing budgets.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7A0AB2-032A-4A4E-2F5E-37BE465042B4}"/>
              </a:ext>
            </a:extLst>
          </p:cNvPr>
          <p:cNvCxnSpPr>
            <a:cxnSpLocks/>
          </p:cNvCxnSpPr>
          <p:nvPr/>
        </p:nvCxnSpPr>
        <p:spPr>
          <a:xfrm>
            <a:off x="8203066" y="725864"/>
            <a:ext cx="0" cy="563444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E1E5881-ECF0-6B13-7329-45074D9FD126}"/>
              </a:ext>
            </a:extLst>
          </p:cNvPr>
          <p:cNvGrpSpPr/>
          <p:nvPr/>
        </p:nvGrpSpPr>
        <p:grpSpPr>
          <a:xfrm>
            <a:off x="8393614" y="725864"/>
            <a:ext cx="3369634" cy="362746"/>
            <a:chOff x="8586322" y="1605610"/>
            <a:chExt cx="3369634" cy="362746"/>
          </a:xfrm>
        </p:grpSpPr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FBC211B5-8F31-2180-0D65-DB5438962FAF}"/>
                </a:ext>
              </a:extLst>
            </p:cNvPr>
            <p:cNvSpPr txBox="1">
              <a:spLocks/>
            </p:cNvSpPr>
            <p:nvPr/>
          </p:nvSpPr>
          <p:spPr>
            <a:xfrm>
              <a:off x="8947310" y="1615828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Impacts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968EE3-6FA6-7D8B-57E1-C9433C139D01}"/>
                </a:ext>
              </a:extLst>
            </p:cNvPr>
            <p:cNvGrpSpPr/>
            <p:nvPr/>
          </p:nvGrpSpPr>
          <p:grpSpPr>
            <a:xfrm>
              <a:off x="8586322" y="1605610"/>
              <a:ext cx="352529" cy="352529"/>
              <a:chOff x="3341677" y="4153738"/>
              <a:chExt cx="352529" cy="35252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3A4A98-9418-6BA7-EC28-EFDBAC0E13CF}"/>
                  </a:ext>
                </a:extLst>
              </p:cNvPr>
              <p:cNvSpPr/>
              <p:nvPr/>
            </p:nvSpPr>
            <p:spPr>
              <a:xfrm>
                <a:off x="3341677" y="4153738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CBF53BAA-F943-E820-421F-CEFEF052D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84154" y="4196215"/>
                <a:ext cx="267575" cy="267575"/>
              </a:xfrm>
              <a:prstGeom prst="rect">
                <a:avLst/>
              </a:prstGeom>
            </p:spPr>
          </p:pic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5B45739-7B4B-9790-5D2D-EC331722D00D}"/>
              </a:ext>
            </a:extLst>
          </p:cNvPr>
          <p:cNvSpPr txBox="1"/>
          <p:nvPr/>
        </p:nvSpPr>
        <p:spPr>
          <a:xfrm>
            <a:off x="8345799" y="1148018"/>
            <a:ext cx="375588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Developed the analysis for ~15MM downloads per year and estimated incremental lift of 38% in revenue through app downloads</a:t>
            </a:r>
          </a:p>
          <a:p>
            <a:pPr marL="171450" indent="-171450" defTabSz="91406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bg2"/>
                </a:solidFill>
              </a:rPr>
              <a:t>Identified high value media sources to advise future annual media spend strategy</a:t>
            </a:r>
          </a:p>
        </p:txBody>
      </p:sp>
    </p:spTree>
    <p:extLst>
      <p:ext uri="{BB962C8B-B14F-4D97-AF65-F5344CB8AC3E}">
        <p14:creationId xmlns:p14="http://schemas.microsoft.com/office/powerpoint/2010/main" val="74197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C634E28-4AA2-37BA-CC3C-DA8D0C8E3BCD}"/>
              </a:ext>
            </a:extLst>
          </p:cNvPr>
          <p:cNvGrpSpPr/>
          <p:nvPr/>
        </p:nvGrpSpPr>
        <p:grpSpPr>
          <a:xfrm>
            <a:off x="543111" y="725864"/>
            <a:ext cx="3369634" cy="1675758"/>
            <a:chOff x="3149515" y="4965834"/>
            <a:chExt cx="3369634" cy="167575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E3063A-8FE1-0A8E-5C90-03E629404F0C}"/>
                </a:ext>
              </a:extLst>
            </p:cNvPr>
            <p:cNvGrpSpPr/>
            <p:nvPr/>
          </p:nvGrpSpPr>
          <p:grpSpPr>
            <a:xfrm>
              <a:off x="3149515" y="4965834"/>
              <a:ext cx="3369634" cy="362746"/>
              <a:chOff x="8586322" y="1605610"/>
              <a:chExt cx="3369634" cy="362746"/>
            </a:xfrm>
          </p:grpSpPr>
          <p:sp>
            <p:nvSpPr>
              <p:cNvPr id="30" name="Text Placeholder 7">
                <a:extLst>
                  <a:ext uri="{FF2B5EF4-FFF2-40B4-BE49-F238E27FC236}">
                    <a16:creationId xmlns:a16="http://schemas.microsoft.com/office/drawing/2014/main" id="{02B336DA-F64F-172F-E0E7-E08882DD13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47310" y="1615828"/>
                <a:ext cx="3008646" cy="352528"/>
              </a:xfrm>
              <a:prstGeom prst="rect">
                <a:avLst/>
              </a:prstGeom>
            </p:spPr>
            <p:txBody>
              <a:bodyPr vert="horz" lIns="91440" tIns="0" rIns="91440" bIns="0" rtlCol="0" anchor="ctr" anchorCtr="0">
                <a:normAutofit/>
              </a:bodyPr>
              <a:lstStyle>
                <a:lvl1pPr marL="0" indent="0" algn="l" defTabSz="91397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481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9480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6466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350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492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479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467" indent="-228494" algn="l" defTabSz="91397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>
                    <a:solidFill>
                      <a:schemeClr val="bg2"/>
                    </a:solidFill>
                  </a:rPr>
                  <a:t>Impacts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C9291E3-675D-5236-7879-5E716F213030}"/>
                  </a:ext>
                </a:extLst>
              </p:cNvPr>
              <p:cNvGrpSpPr/>
              <p:nvPr/>
            </p:nvGrpSpPr>
            <p:grpSpPr>
              <a:xfrm>
                <a:off x="8586322" y="1605610"/>
                <a:ext cx="352529" cy="352529"/>
                <a:chOff x="3341677" y="4153738"/>
                <a:chExt cx="352529" cy="352529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18E7C408-358C-ACB6-4C80-A9ED36E81E89}"/>
                    </a:ext>
                  </a:extLst>
                </p:cNvPr>
                <p:cNvSpPr/>
                <p:nvPr/>
              </p:nvSpPr>
              <p:spPr>
                <a:xfrm>
                  <a:off x="3341677" y="4153738"/>
                  <a:ext cx="352529" cy="3525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 sz="1200" b="1">
                    <a:solidFill>
                      <a:schemeClr val="accent4"/>
                    </a:solidFill>
                    <a:latin typeface="PP Telegraf" pitchFamily="2" charset="77"/>
                  </a:endParaRPr>
                </a:p>
              </p:txBody>
            </p:sp>
            <p:pic>
              <p:nvPicPr>
                <p:cNvPr id="40" name="Graphic 39">
                  <a:extLst>
                    <a:ext uri="{FF2B5EF4-FFF2-40B4-BE49-F238E27FC236}">
                      <a16:creationId xmlns:a16="http://schemas.microsoft.com/office/drawing/2014/main" id="{804AE318-9EC8-1D7E-B8B5-F6FBB67FA8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84154" y="4196215"/>
                  <a:ext cx="267575" cy="267575"/>
                </a:xfrm>
                <a:prstGeom prst="rect">
                  <a:avLst/>
                </a:prstGeom>
              </p:spPr>
            </p:pic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DE0BF5-F6E1-0A1D-54F7-3D5EF31C042F}"/>
                </a:ext>
              </a:extLst>
            </p:cNvPr>
            <p:cNvSpPr txBox="1"/>
            <p:nvPr/>
          </p:nvSpPr>
          <p:spPr>
            <a:xfrm>
              <a:off x="3151002" y="5548985"/>
              <a:ext cx="2638870" cy="10926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Developed the analysis for xx MM downloads per year and estimated incremental revenue of $</a:t>
              </a:r>
              <a:r>
                <a:rPr lang="en-US" sz="1100" err="1">
                  <a:solidFill>
                    <a:schemeClr val="bg2"/>
                  </a:solidFill>
                </a:rPr>
                <a:t>x.x</a:t>
              </a:r>
              <a:r>
                <a:rPr lang="en-US" sz="1100">
                  <a:solidFill>
                    <a:schemeClr val="bg2"/>
                  </a:solidFill>
                </a:rPr>
                <a:t> Bn</a:t>
              </a:r>
            </a:p>
            <a:p>
              <a:pPr marL="171450" lvl="0" indent="-171450" defTabSz="914065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schemeClr val="bg2"/>
                  </a:solidFill>
                </a:rPr>
                <a:t>Identified high value channels for App downloads to support future media strategy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4CAA18-6061-F595-2931-CD506B4367A4}"/>
              </a:ext>
            </a:extLst>
          </p:cNvPr>
          <p:cNvGrpSpPr/>
          <p:nvPr/>
        </p:nvGrpSpPr>
        <p:grpSpPr>
          <a:xfrm>
            <a:off x="3886924" y="725864"/>
            <a:ext cx="7761965" cy="5660405"/>
            <a:chOff x="7550426" y="3397469"/>
            <a:chExt cx="4098463" cy="298880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B2F86E4-A4B2-61AD-E978-1BC7FEE6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0426" y="3397469"/>
              <a:ext cx="4098463" cy="1431419"/>
            </a:xfrm>
            <a:prstGeom prst="rect">
              <a:avLst/>
            </a:prstGeom>
            <a:ln w="12700">
              <a:solidFill>
                <a:schemeClr val="tx2"/>
              </a:solidFill>
            </a:ln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B47E6D9-8C62-FFF5-823C-BA4B2851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50426" y="4963692"/>
              <a:ext cx="1802966" cy="1422577"/>
            </a:xfrm>
            <a:prstGeom prst="rect">
              <a:avLst/>
            </a:prstGeom>
            <a:ln w="12700">
              <a:solidFill>
                <a:schemeClr val="tx2"/>
              </a:solidFill>
            </a:ln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124435E-CC16-74C3-6D78-914368BC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90476" y="4963692"/>
              <a:ext cx="2158393" cy="1422577"/>
            </a:xfrm>
            <a:prstGeom prst="rect">
              <a:avLst/>
            </a:prstGeom>
            <a:ln w="12700">
              <a:solidFill>
                <a:schemeClr val="tx2"/>
              </a:solidFill>
            </a:ln>
          </p:spPr>
        </p:pic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C4103C-6B61-3806-7E7E-CCFFF4DC4ED9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943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Blend">
  <a:themeElements>
    <a:clrScheme name="Blend360">
      <a:dk1>
        <a:srgbClr val="000000"/>
      </a:dk1>
      <a:lt1>
        <a:srgbClr val="FFFFFF"/>
      </a:lt1>
      <a:dk2>
        <a:srgbClr val="003059"/>
      </a:dk2>
      <a:lt2>
        <a:srgbClr val="F3F3F0"/>
      </a:lt2>
      <a:accent1>
        <a:srgbClr val="053057"/>
      </a:accent1>
      <a:accent2>
        <a:srgbClr val="00EDED"/>
      </a:accent2>
      <a:accent3>
        <a:srgbClr val="A2F3F3"/>
      </a:accent3>
      <a:accent4>
        <a:srgbClr val="304550"/>
      </a:accent4>
      <a:accent5>
        <a:srgbClr val="1A1A1A"/>
      </a:accent5>
      <a:accent6>
        <a:srgbClr val="0B0D0E"/>
      </a:accent6>
      <a:hlink>
        <a:srgbClr val="00ECEC"/>
      </a:hlink>
      <a:folHlink>
        <a:srgbClr val="954F72"/>
      </a:folHlink>
    </a:clrScheme>
    <a:fontScheme name="Custom 1">
      <a:majorFont>
        <a:latin typeface="PP Telegraf"/>
        <a:ea typeface=""/>
        <a:cs typeface=""/>
      </a:majorFont>
      <a:minorFont>
        <a:latin typeface="PP Telegra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lnSpc>
            <a:spcPct val="150000"/>
          </a:lnSpc>
          <a:defRPr sz="140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 Blend" id="{E0763DE7-0215-0047-A27E-03B98F738A5C}" vid="{64103EF7-30F9-1741-A16A-7688B40A51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3cb538-dcdc-441d-a642-0e643b97be37">
      <Terms xmlns="http://schemas.microsoft.com/office/infopath/2007/PartnerControls"/>
    </lcf76f155ced4ddcb4097134ff3c332f>
    <TaxCatchAll xmlns="b41fe58b-a25b-4acc-bda3-1cc61b51d581" xsi:nil="true"/>
    <LikesCount xmlns="http://schemas.microsoft.com/sharepoint/v3" xsi:nil="true"/>
    <All_x002d_StarProgram xmlns="d83cb538-dcdc-441d-a642-0e643b97be37">true</All_x002d_StarProgram>
    <Ratings xmlns="http://schemas.microsoft.com/sharepoint/v3" xsi:nil="true"/>
    <Client xmlns="d83cb538-dcdc-441d-a642-0e643b97be37" xsi:nil="true"/>
    <LikedBy xmlns="http://schemas.microsoft.com/sharepoint/v3">
      <UserInfo>
        <DisplayName/>
        <AccountId xsi:nil="true"/>
        <AccountType/>
      </UserInfo>
    </LikedBy>
    <Date xmlns="d83cb538-dcdc-441d-a642-0e643b97be37" xsi:nil="true"/>
    <RatedBy xmlns="http://schemas.microsoft.com/sharepoint/v3">
      <UserInfo>
        <DisplayName/>
        <AccountId xsi:nil="true"/>
        <AccountType/>
      </UserInfo>
    </RatedBy>
    <SharedWithUsers xmlns="b41fe58b-a25b-4acc-bda3-1cc61b51d581">
      <UserInfo>
        <DisplayName>Caroline Caldwell</DisplayName>
        <AccountId>1427</AccountId>
        <AccountType/>
      </UserInfo>
      <UserInfo>
        <DisplayName>Bret Baker</DisplayName>
        <AccountId>59</AccountId>
        <AccountType/>
      </UserInfo>
      <UserInfo>
        <DisplayName>Kal Bowers</DisplayName>
        <AccountId>367</AccountId>
        <AccountType/>
      </UserInfo>
      <UserInfo>
        <DisplayName>Christopher Andrews</DisplayName>
        <AccountId>2346</AccountId>
        <AccountType/>
      </UserInfo>
      <UserInfo>
        <DisplayName>Bo Chipman</DisplayName>
        <AccountId>87</AccountId>
        <AccountType/>
      </UserInfo>
      <UserInfo>
        <DisplayName>Jeanelle Schneider</DisplayName>
        <AccountId>880</AccountId>
        <AccountType/>
      </UserInfo>
      <UserInfo>
        <DisplayName>Jeff Shafer</DisplayName>
        <AccountId>86</AccountId>
        <AccountType/>
      </UserInfo>
      <UserInfo>
        <DisplayName>Pip Courbois</DisplayName>
        <AccountId>155</AccountId>
        <AccountType/>
      </UserInfo>
      <UserInfo>
        <DisplayName>Sagar Math</DisplayName>
        <AccountId>61</AccountId>
        <AccountType/>
      </UserInfo>
    </SharedWithUsers>
    <MediaLengthInSeconds xmlns="d83cb538-dcdc-441d-a642-0e643b97be37" xsi:nil="true"/>
    <Target_x0020_Audiences xmlns="d83cb538-dcdc-441d-a642-0e643b97be37" xsi:nil="true"/>
    <_ModernAudienceTargetUserField xmlns="d83cb538-dcdc-441d-a642-0e643b97be37">
      <UserInfo>
        <DisplayName/>
        <AccountId xsi:nil="true"/>
        <AccountType/>
      </UserInfo>
    </_ModernAudienceTargetUser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E722E5EB8B748BE12F9CA1D19D31C" ma:contentTypeVersion="33" ma:contentTypeDescription="Create a new document." ma:contentTypeScope="" ma:versionID="4a26373238c0b9883e57d0de026ec7a1">
  <xsd:schema xmlns:xsd="http://www.w3.org/2001/XMLSchema" xmlns:xs="http://www.w3.org/2001/XMLSchema" xmlns:p="http://schemas.microsoft.com/office/2006/metadata/properties" xmlns:ns1="http://schemas.microsoft.com/sharepoint/v3" xmlns:ns2="d83cb538-dcdc-441d-a642-0e643b97be37" xmlns:ns3="b41fe58b-a25b-4acc-bda3-1cc61b51d581" targetNamespace="http://schemas.microsoft.com/office/2006/metadata/properties" ma:root="true" ma:fieldsID="02fecaba5f6c145185fc5b0d3b3c7566" ns1:_="" ns2:_="" ns3:_="">
    <xsd:import namespace="http://schemas.microsoft.com/sharepoint/v3"/>
    <xsd:import namespace="d83cb538-dcdc-441d-a642-0e643b97be37"/>
    <xsd:import namespace="b41fe58b-a25b-4acc-bda3-1cc61b51d5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ate" minOccurs="0"/>
                <xsd:element ref="ns2:Client" minOccurs="0"/>
                <xsd:element ref="ns2:All_x002d_StarProgram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Target_x0020_Audiences" minOccurs="0"/>
                <xsd:element ref="ns2:_ModernAudienceTargetUserField" minOccurs="0"/>
                <xsd:element ref="ns2:_ModernAudienceAadObjectI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3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4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5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6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7" nillable="true" ma:displayName="Number of Likes" ma:internalName="LikesCount">
      <xsd:simpleType>
        <xsd:restriction base="dms:Unknown"/>
      </xsd:simpleType>
    </xsd:element>
    <xsd:element name="LikedBy" ma:index="28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cb538-dcdc-441d-a642-0e643b97be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Date" ma:index="20" nillable="true" ma:displayName="Date" ma:format="DateOnly" ma:internalName="Date">
      <xsd:simpleType>
        <xsd:restriction base="dms:DateTime"/>
      </xsd:simpleType>
    </xsd:element>
    <xsd:element name="Client" ma:index="21" nillable="true" ma:displayName="Client" ma:format="Dropdown" ma:internalName="Client">
      <xsd:simpleType>
        <xsd:restriction base="dms:Choice">
          <xsd:enumeration value="Lowes"/>
          <xsd:enumeration value="CVS"/>
          <xsd:enumeration value="Benefytt"/>
        </xsd:restriction>
      </xsd:simpleType>
    </xsd:element>
    <xsd:element name="All_x002d_StarProgram" ma:index="22" nillable="true" ma:displayName="All-Star Program" ma:default="1" ma:format="Dropdown" ma:internalName="All_x002d_StarProgram">
      <xsd:simpleType>
        <xsd:restriction base="dms:Boolea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12b4ba89-8ace-419e-814f-6a2e402f6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rget_x0020_Audiences" ma:index="35" nillable="true" ma:displayName="Target Audiences" ma:internalName="Target_x0020_Audiences">
      <xsd:simpleType>
        <xsd:restriction base="dms:Unknown"/>
      </xsd:simpleType>
    </xsd:element>
    <xsd:element name="_ModernAudienceTargetUserField" ma:index="36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37" nillable="true" ma:displayName="AudienceIds" ma:list="{12c75594-a8db-4095-9387-f714a1a44b87}" ma:internalName="_ModernAudienceAadObjectIds" ma:readOnly="true" ma:showField="_AadObjectIdForUser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fe58b-a25b-4acc-bda3-1cc61b51d58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1" nillable="true" ma:displayName="Taxonomy Catch All Column" ma:hidden="true" ma:list="{af88503c-eef4-4266-8a32-a46904804468}" ma:internalName="TaxCatchAll" ma:showField="CatchAllData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4F96B7-6E9C-4D45-BD31-4EDB9AE7AD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11565A-2AEA-435D-84B1-F509EF69C9AB}">
  <ds:schemaRefs>
    <ds:schemaRef ds:uri="b14a4660-2603-49c1-b828-1b7082c21626"/>
    <ds:schemaRef ds:uri="b41fe58b-a25b-4acc-bda3-1cc61b51d581"/>
    <ds:schemaRef ds:uri="c22c737c-0843-4448-8483-7ae9729230ce"/>
    <ds:schemaRef ds:uri="d83cb538-dcdc-441d-a642-0e643b97be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747AFE2-C17F-4287-B43B-F74A90C43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83cb538-dcdc-441d-a642-0e643b97be37"/>
    <ds:schemaRef ds:uri="b41fe58b-a25b-4acc-bda3-1cc61b51d5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Blend</Template>
  <TotalTime>0</TotalTime>
  <Words>508</Words>
  <Application>Microsoft Office PowerPoint</Application>
  <PresentationFormat>Widescreen</PresentationFormat>
  <Paragraphs>37</Paragraphs>
  <Slides>3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Blend</vt:lpstr>
      <vt:lpstr>Retail  Giant – Incremental Revenue Estimation</vt:lpstr>
      <vt:lpstr>Sophisticated causal measurement in Fortune 50 Retail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Unleashing Conversion Potential: </dc:title>
  <dc:creator>Amirah Azlan</dc:creator>
  <cp:lastModifiedBy>Scott Nuernberger</cp:lastModifiedBy>
  <cp:revision>12</cp:revision>
  <dcterms:created xsi:type="dcterms:W3CDTF">2023-10-11T02:53:42Z</dcterms:created>
  <dcterms:modified xsi:type="dcterms:W3CDTF">2025-12-01T17:27:10Z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0x0101001F4E722E5EB8B748BE12F9CA1D19D31C</vt:lpwstr>
  </property>
  <property fmtid="{D5CDD505-2E9C-101B-9397-08002B2CF9AE}" pid="3" name="MediaServiceImageTags">
    <vt:lpwstr/>
  </property>
  <property fmtid="{D5CDD505-2E9C-101B-9397-08002B2CF9AE}" pid="4" name="Order">
    <vt:r8>1432400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