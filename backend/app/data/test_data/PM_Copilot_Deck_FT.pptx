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74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M_COPILOT_MASTER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77588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A2240">
              <a:alpha val="0"/>
            </a:srgbClr>
          </a:solidFill>
          <a:ln w="38100">
            <a:solidFill>
              <a:srgbClr val="00E5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A2240">
              <a:alpha val="0"/>
            </a:srgbClr>
          </a:solidFill>
          <a:ln w="25400">
            <a:solidFill>
              <a:srgbClr val="00E5D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 Copilot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Investment Research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2286000" cy="36576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Templeton | Blend360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Data Science Knowledge Sharing Series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Shrivastav | Senior Data Scientist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Blend360.com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managers are overwhelmed by information volume and velocity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Manual synthesis of 600+ daily articles leads to missed signals and delayed decisions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533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252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Overload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51560" y="14904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daily articles from RavenPack across 200+ portfolio companies. Manual review is impossible at scale.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03911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039112"/>
            <a:ext cx="54864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219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093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Dilution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051560" y="2359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articles are noise — routine press releases, CSR announcements, duplicate coverage. Critical signals get buried.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7200" y="290779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57200" y="2907792"/>
            <a:ext cx="54864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9067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9626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Expert Validation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51560" y="32278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alone can mislead. Without expert channel checks, PMs act on incomplete or unvalidated narratives.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57200" y="3776472"/>
            <a:ext cx="3931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57200" y="3776472"/>
            <a:ext cx="54864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5935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8313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Quality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051560" y="40965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vary by analyst, time pressure, and cognitive load. No systematic decision framework.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4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4846320" y="1600200"/>
            <a:ext cx="1828800" cy="1234440"/>
          </a:xfrm>
          <a:prstGeom prst="rect">
            <a:avLst/>
          </a:prstGeom>
          <a:solidFill>
            <a:srgbClr val="0A22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84632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28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600+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4983480" y="2313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articles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process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6812280" y="1600200"/>
            <a:ext cx="1828800" cy="1234440"/>
          </a:xfrm>
          <a:prstGeom prst="rect">
            <a:avLst/>
          </a:prstGeom>
          <a:solidFill>
            <a:srgbClr val="0A22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81228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2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949440" y="2313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ratio in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news feed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4846320" y="3017520"/>
            <a:ext cx="1828800" cy="1234440"/>
          </a:xfrm>
          <a:prstGeom prst="rect">
            <a:avLst/>
          </a:prstGeom>
          <a:solidFill>
            <a:srgbClr val="0A22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484632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28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5-8 min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983480" y="3730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synthesis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6812280" y="3017520"/>
            <a:ext cx="1828800" cy="1234440"/>
          </a:xfrm>
          <a:prstGeom prst="rect">
            <a:avLst/>
          </a:prstGeom>
          <a:solidFill>
            <a:srgbClr val="0A224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81228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2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70-75%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6949440" y="3730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satisfaction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 architecture with progressive context engineering delivers scalable recommendations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Six specialized AI agents transform raw data into actionable BUY/SELL/HOLD signals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468880"/>
          </a:xfrm>
          <a:prstGeom prst="rect">
            <a:avLst/>
          </a:prstGeom>
          <a:solidFill>
            <a:srgbClr val="0A22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63040" y="1371600"/>
            <a:ext cx="640080" cy="640080"/>
          </a:xfrm>
          <a:prstGeom prst="ellipse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4904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Multi-Agent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Orchestration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specialized agents, each optimized for a specific task. Model selection driven by cost-accuracy trade-offs per agent.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2651760" cy="2468880"/>
          </a:xfrm>
          <a:prstGeom prst="rect">
            <a:avLst/>
          </a:prstGeom>
          <a:solidFill>
            <a:srgbClr val="0A22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4904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56616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progressive context building. Each layer filters before passing forward. Only relevant, actionable context reaches the final reasoning model. Used context Isolation for separation of concerns, context summarization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651760" cy="2468880"/>
          </a:xfrm>
          <a:prstGeom prst="rect">
            <a:avLst/>
          </a:prstGeom>
          <a:solidFill>
            <a:srgbClr val="0A224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223760" y="1371600"/>
            <a:ext cx="640080" cy="640080"/>
          </a:xfrm>
          <a:prstGeom prst="ellipse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4904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Rigorous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44652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articles, 6 human annotators, inter-annotator agreement analysis. Every model choice backed by data.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5356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4008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4008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265176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265176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66344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+15-20 pts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66344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Improvement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67512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4-6 mins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67512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System Architecture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Copilot v3.0 — Six agents, deliberate model selection, one actionable recommendation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987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50" b="1" kern="0" spc="200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5544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289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SME Samples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fundamentals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2880" y="1856232"/>
            <a:ext cx="15544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1883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Bloomberg API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micro indicators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2880" y="2450592"/>
            <a:ext cx="15544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478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FEG Data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" y="2697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trade data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2880" y="3044952"/>
            <a:ext cx="15544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4320" y="30723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Aiera MCP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3291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Bridge experts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82880" y="3639312"/>
            <a:ext cx="15544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" y="3666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RavenPack API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" y="3886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daily articles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03120" y="987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50" b="1" kern="0" spc="200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PIPELINE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11680" y="1261872"/>
            <a:ext cx="24688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011680" y="1261872"/>
            <a:ext cx="45720" cy="475488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48840" y="12801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Intelligence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148840" y="14996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company information &amp; thesis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17720" y="1316736"/>
            <a:ext cx="1234440" cy="34747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pPr defTabSz="914378"/>
            <a:endParaRPr lang="en-IN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17720" y="13167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3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89320" y="1316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Company Fundamentals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737360" y="149961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08960" y="17099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011680" y="1856232"/>
            <a:ext cx="24688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011680" y="1856232"/>
            <a:ext cx="45720" cy="475488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148840" y="18745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Macro/Micro Economic Data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148840" y="20939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indicators ingestion – MTD &amp; Target Price Triggers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17720" y="1911096"/>
            <a:ext cx="1234440" cy="34747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17720" y="19110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89320" y="1911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Economic Context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737360" y="209397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108960" y="23042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011680" y="2450592"/>
            <a:ext cx="24688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011680" y="2450592"/>
            <a:ext cx="45720" cy="475488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148840" y="24688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Instrument Statistics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148840" y="26883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historical trade analysis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1234440" cy="34747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pPr defTabSz="914378"/>
            <a:endParaRPr lang="en-IN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617720" y="25054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Compute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89320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Trading Patterns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737360" y="268833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108960" y="28986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011680" y="3044952"/>
            <a:ext cx="24688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011680" y="3044952"/>
            <a:ext cx="45720" cy="475488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148840" y="30632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 Bridge Expert Insights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148840" y="328269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summaries &amp; directional hypothesis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617720" y="3099816"/>
            <a:ext cx="1234440" cy="34747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617720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89320" y="3099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Expert Validation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737360" y="328269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108960" y="34930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2011680" y="3639312"/>
            <a:ext cx="2468880" cy="475488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011680" y="3639312"/>
            <a:ext cx="45720" cy="475488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148840" y="36576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 Dedup &amp; Scoring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148840" y="387705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+ significance scoring</a:t>
            </a:r>
            <a:endParaRPr lang="en-US" sz="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617720" y="3694176"/>
            <a:ext cx="1234440" cy="34747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617720" y="36941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989320" y="3694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Material News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737360" y="3877056"/>
            <a:ext cx="2743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3108960" y="4160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011680" y="4315968"/>
            <a:ext cx="6263640" cy="438912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011680" y="4315968"/>
            <a:ext cx="4572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194560" y="432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5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REASONING ENGINE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194560" y="452628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(Full Reasoning) → Ingests all agent </a:t>
            </a:r>
            <a:b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→ BUY / SELL / HOLD + Confidence + Expert Validation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617720" y="4361688"/>
            <a:ext cx="1234440" cy="34747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617720" y="4361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2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news pipeline reduces 600+ daily articles to 15 actionable signals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News Data Pipeline — Deduplication, LLM Relevance Filtering, Topic Classification, Importance Scoring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50876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kern="0" spc="1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INPUT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32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600+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articles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RavenPack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83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57400" y="123444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57400" y="1234440"/>
            <a:ext cx="1508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5740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kern="0" spc="1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DEDUP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16276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3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~400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48840" y="2286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LSH +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94760" y="123444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1234440"/>
            <a:ext cx="1508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9476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kern="0" spc="1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FILTER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94760" y="16276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3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~90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86200" y="2286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detection or relevance</a:t>
            </a:r>
            <a:b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32120" y="123444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32120" y="1234440"/>
            <a:ext cx="150876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3212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kern="0" spc="1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32120" y="16276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3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~90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23560" y="2286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score estimation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1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69480" y="123444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269480" y="1234440"/>
            <a:ext cx="1508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69480" y="1353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kern="0" spc="15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69480" y="16276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3200" b="1" dirty="0">
                <a:solidFill>
                  <a:srgbClr val="10B981"/>
                </a:solidFill>
                <a:latin typeface="Montserrat" pitchFamily="34" charset="0"/>
              </a:rPr>
              <a:t>80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60920" y="22860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≥8.5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events only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3337560"/>
            <a:ext cx="8229600" cy="1234440"/>
          </a:xfrm>
          <a:prstGeom prst="rect">
            <a:avLst/>
          </a:prstGeom>
          <a:solidFill>
            <a:srgbClr val="0A224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0440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9728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Design Decision: Model Selection for Relevance Scoring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97280" y="3840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 Zero-Shot selected over Claude Sonnet despite 3.1% lower accuracy (71.8% vs 74.9%). </a:t>
            </a:r>
            <a:b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</a:t>
            </a: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5-10x cost reduction at production scale with acceptable performance. Zero-shot eliminates few-shot prompt maintenance overhead.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foundational agents provide the company, economic, and quantitative baseline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2-4: Company Intelligence + Macro/Micro Economic Data + Instrument Statistics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651760" cy="4572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Intelligence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1480" y="17190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88720" y="1719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3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11480" y="21031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Frequency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88720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refresh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24871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88720" y="24871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portfolio companies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28712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88720" y="28712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samples, filings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1480" y="32552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88720" y="32552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model, revenue drivers, competitive position, key risks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65760" y="3977640"/>
            <a:ext cx="2468880" cy="3200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38912" y="39776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Claude: Thesis generation requires highest reasoning quality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154680" y="11430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154680" y="1143000"/>
            <a:ext cx="2651760" cy="4572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0700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30168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Macro/Micro Economic Data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291840" y="17190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069080" y="1719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 (Insights)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3291840" y="21031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069080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API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3291840" y="24871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4069080" y="24871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micro indicators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291840" y="28712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4069080" y="28712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Professional-grade Bloomberg economic data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3291840" y="32552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069080" y="32552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economic context ingested &amp; saved for downstream use. Uses context offloading 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3246120" y="3977640"/>
            <a:ext cx="2468880" cy="320040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pPr defTabSz="914378"/>
            <a:endParaRPr lang="en-IN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3319272" y="39776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 just formats API data — minimal LLM cost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035040" y="11430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6035040" y="1143000"/>
            <a:ext cx="2651760" cy="4572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07008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510528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Instrument Statistics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6172200" y="17190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6949440" y="1719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Compute (no LLM)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6172200" y="21031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6949440" y="21031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FEG trade data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6172200" y="24871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6949440" y="24871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6172200" y="28712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6949440" y="28712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trade data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6172200" y="32552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6949440" y="32552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patterns, trends, volatility, manager conviction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47"/>
          <p:cNvSpPr/>
          <p:nvPr/>
        </p:nvSpPr>
        <p:spPr>
          <a:xfrm>
            <a:off x="6126480" y="3977640"/>
            <a:ext cx="2468880" cy="3200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pPr defTabSz="914378"/>
            <a:endParaRPr lang="en-IN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6199632" y="39776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LLM cost — vectorized ops for speed &amp; low latency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1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Two-stage expert filtering delivers 80% cost reduction with forward-looking validation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5: Third Bridge Expert Insights — The innovation that separates news from intelligence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" y="1280160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2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000" b="1" kern="0" spc="100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10 expert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company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(90-day window)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91440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Aiera MCP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4884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60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14600" y="11887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2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0604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000" b="1" kern="0" spc="100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FILTER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06040" y="2029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interviews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to today's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news?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017520" y="2743200"/>
            <a:ext cx="91440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175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$0.01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06040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4340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60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11887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0" y="1280160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2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0060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000" b="1" kern="0" spc="100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00600" y="2029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transcripts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relevant only events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212080" y="2743200"/>
            <a:ext cx="914400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1208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$0.10-0.50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00600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Aiera MCP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60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903720" y="118872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80960" y="1280160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809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2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9516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000" b="1" kern="0" spc="100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SYNTHESIZE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95160" y="20299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experts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or challenge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news?</a:t>
            </a:r>
            <a:b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(Compact/Reduced but rich context)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406640" y="2743200"/>
            <a:ext cx="91440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0664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$0.02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95160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7200" y="3474720"/>
            <a:ext cx="3931920" cy="109728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Apple Q1 Earnings Miss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80" y="3794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expert interviews searched → 2 relevant found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378"/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expert confirms 10-15% production cuts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378"/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expert notes Samsung gaining 2-3% share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378"/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irrelevant interviews excluded = 80% cost savings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663440" y="3474720"/>
            <a:ext cx="4023360" cy="109728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Metrics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463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84632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12648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12648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w/ Experts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40664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6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$10-45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4066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Engineering: The Differentiator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context building prevents information overload — each layer filters before adding to synthesis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00" cy="59436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457200" cy="40233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L1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1133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Fundamental Baseline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13898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model, revenue drivers, competitive position, key risks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0" y="1133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11338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7520" y="16642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1810512"/>
            <a:ext cx="5486400" cy="59436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54864" cy="5943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1901952"/>
            <a:ext cx="457200" cy="402336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1901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6366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L2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Quantitative Trends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4440" y="2103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trends, volatility, manager conviction, percentile rank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0" y="1847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0" y="1847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17520" y="23774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523744"/>
            <a:ext cx="5486400" cy="59436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252374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2615184"/>
            <a:ext cx="457200" cy="402336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26151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L3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44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Events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2816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events (≥8.5 score), volume spikes (3x+), sentiment extremes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14800" y="2560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0" y="2560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017520" y="3090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3236976"/>
            <a:ext cx="5486400" cy="59436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236976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0080" y="3328416"/>
            <a:ext cx="457200" cy="40233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0080" y="3328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L4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3444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Expert Validation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34440" y="35295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perspectives relevant to today's news, forward-looking insights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114800" y="32735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0" y="3273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0.8K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017520" y="3977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SYNTHESIS: 4.4K tokens total → GPT-5-nano → BUY/SELL/HOLD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17920" y="1097280"/>
            <a:ext cx="2560320" cy="352044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21792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kern="0" spc="150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vs AFTER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5508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CE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635240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8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CE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5508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Size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55080" y="2121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50K tokens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635240" y="2121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5K tokens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35508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Cost/Rec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55080" y="2761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$0.50-0.80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635240" y="2761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$0.05-0.10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55080" y="3200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Satisfaction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55080" y="3401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70-75%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63524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85-90%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5508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5508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12-14 min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635240" y="40416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1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4-6 min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Rigorous evaluation of 992 articles by 6 annotators drove a data-backed model selection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Accuracy vs Cost trade-off analysis across Claude Sonnet, GPT-5-mini, GPT-5-nano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1143000"/>
          <a:ext cx="6720840" cy="1600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Model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Overall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Accuracy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Relevant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Accuracy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 Relevant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Accuracy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Balance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Gap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Relative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Cost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74.9%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3.6%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5-10x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GPT-5-nano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1x ✓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3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Selection Rationale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3383280"/>
            <a:ext cx="26517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3383280"/>
            <a:ext cx="54864" cy="11430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930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Cost-Optimal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30352" y="38221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GPT-5-nano is 5-10x cheaper than Claude Sonnet. At 200+ companies daily, this compounds to significant savings.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200400" y="3383280"/>
            <a:ext cx="26517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200400" y="3383280"/>
            <a:ext cx="54864" cy="11430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4930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30752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Acceptable Trade-off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364992" y="38221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3.1% accuracy drop (74.9% → 71.8%) for massive cost reduction. Production-viable quality maintained.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035040" y="3383280"/>
            <a:ext cx="26517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35040" y="3383280"/>
            <a:ext cx="54864" cy="11430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49300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65392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Zero-Shot Simplicity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99632" y="38221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few-shot examples to maintain. Eliminates 70-80% prompt size overhead. Simpler deployment pipeline.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Deep Dive: Design Decisions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 on multi-agent coordination, conflict resolution, and production resilience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931920" cy="118872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5720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984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33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 the agents coordinate?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13075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1100"/>
              </a:lnSpc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orchestration with custom Python asyncio orchestrator (~200 LOC). Data agents run in parallel (60% latency reduction), analysis agents run sequentially with explicit dependency graphs. Evaluated LangGraph/CrewAI — too heavy for our use case.</a:t>
            </a:r>
            <a:endParaRPr lang="en-US" sz="7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34840" y="960120"/>
            <a:ext cx="3931920" cy="118872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434840" y="960120"/>
            <a:ext cx="45720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69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1033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 you handle conflicting signals?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92040" y="13075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1100"/>
              </a:lnSpc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treated as information, not errors. A Conflict Resolution Framework maps signal pairs to resolution strategies (e.g., News ↓ vs Earnings ↑ → check if priced in). Output is FAVORABLE/NEUTRAL/CAUTIONARY with explicit conflict reasoning. No false certainty.</a:t>
            </a:r>
            <a:endParaRPr lang="en-US" sz="7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11480" y="2240280"/>
            <a:ext cx="3931920" cy="118872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11480" y="2240280"/>
            <a:ext cx="45720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35000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313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What’s the decision hierarchy?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68680" y="258775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1100"/>
              </a:lnSpc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Evidence Model, not voting. Weights are dynamic based on data freshness, completeness, and signal strength. Fundamental Agent has veto power (balance sheet risk &gt;0.7 = never FAVORABLE). Synthesis Agent is an aggregator with rules, not a meta-agent.</a:t>
            </a:r>
            <a:endParaRPr lang="en-US" sz="7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434840" y="2240280"/>
            <a:ext cx="3931920" cy="118872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434840" y="2240280"/>
            <a:ext cx="45720" cy="11887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5000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92040" y="2313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 you explain to skeptical PMs?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892040" y="258775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1100"/>
              </a:lnSpc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say BUY/SELL — we say FAVORABLE/NEUTRAL/CAUTIONARY. Every signal has a reasoning chain PMs can verify. We surface what they’d miss, not what they’d know. Tagline: “We show you what you’re missing.”</a:t>
            </a:r>
            <a:endParaRPr lang="en-US" sz="7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11480" y="3520440"/>
            <a:ext cx="3931920" cy="118872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411480" y="3520440"/>
            <a:ext cx="45720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63016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3593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does the system degrade gracefully?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868680" y="386791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1100"/>
              </a:lnSpc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layers: (1) Data availability flags per agent, (2) Minimum 2-source threshold — below that, output is “INSUFFICIENT DATA”, (3) Confidence degrades with source count (5+ = HIGH, 3-4 = MEDIUM, 2 = LOW). Partial info with transparency &gt; false confidence.</a:t>
            </a:r>
            <a:endParaRPr lang="en-US" sz="7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434840" y="3520440"/>
            <a:ext cx="3931920" cy="118872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4434840" y="3520440"/>
            <a:ext cx="45720" cy="1188720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685800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63016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892040" y="3593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 you ensure consistent behavior?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4892040" y="386791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1100"/>
              </a:lnSpc>
            </a:pPr>
            <a:r>
              <a:rPr lang="en-US" sz="7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Regime-aware prompts (adjust thresholds for volatility, bull/bear, earnings season). Enumerated outputs only (no free-form). Few-shot edge cases in system prompts. JSON schema enforcement. 50-scenario evaluation set — every prompt change tested before deployment.</a:t>
            </a:r>
            <a:endParaRPr lang="en-US" sz="7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Deliberate model-to-task mapping keeps annual system cost under $4,300 for 200+ companies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Architecture: Each agent uses the right-sized model — no over-engineering, no under-investing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74320" y="1115568"/>
          <a:ext cx="69494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Component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Model / Method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Why This Model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Frequency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Annual Cost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Intelligence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thesis generation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$100-160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Macro/Micro Economic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GPT-5-nano (formatting)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Formats Bloomberg API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$150-300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 Statistics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Compute (vectorized)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LLM needed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Bridge Expert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GPT-5-nano (Zero-Shot)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 &amp; hypothesis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$250-1,250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Dedup &amp; Scoring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GPT-5-nano (Zero-Shot)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volume, cost-sensitive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$320-400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Reasoning Engine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(Full Reasoning)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 for final decisions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$1,250-2,500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E5D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$2,070-4,610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1" y="3890091"/>
            <a:ext cx="7942310" cy="73152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99119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Philosophy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66928" y="42108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3 for deep reasoning (thesis generation). GPT-5-nano for high-volume tasks (news, formatting, expert summaries). Pure vectorized compute where no LLM is needed. GPT-5 full reasoning only for the final investment decision. Net result: production-grade AI for the cost of a SaaS subscription.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32004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recommendations with expert-validated confidence enable faster, higher-quality decisions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Output: What the portfolio manager receives every morning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937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937760" cy="457200"/>
          </a:xfrm>
          <a:prstGeom prst="rect">
            <a:avLst/>
          </a:prstGeom>
          <a:solidFill>
            <a:srgbClr val="0A224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Output: Apple Inc. (AAPL) — 2026-02-08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6858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SELL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0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Confidence: High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3464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Validation: High (2 experts)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9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earnings miss (9.2 significance) driven by supply chain constraints. Third Bridge supply chain expert validates 10-15% production cuts and forecasts easing by Q2. Competitive expert notes Samsung gaining 2-3% market share during shortage. Position currently 5.2% (high concentration) with INCREASING trend pre-miss warrants reduction.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0515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Events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19072" y="3474720"/>
            <a:ext cx="10515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19072" y="3493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19072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SPIKE 3.2x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889504" y="3474720"/>
            <a:ext cx="10515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89504" y="3493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89504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-0.78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59936" y="3474720"/>
            <a:ext cx="105156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59936" y="34930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059936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5.2% (85th %ile)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400" b="1" dirty="0">
                <a:solidFill>
                  <a:srgbClr val="0A22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Impact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577840" y="1645920"/>
            <a:ext cx="1554480" cy="91440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77840" y="17190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200+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692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covered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269480" y="1645920"/>
            <a:ext cx="1554480" cy="91440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69480" y="17190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15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6092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morning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2697480"/>
            <a:ext cx="1554480" cy="91440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77840" y="27706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85-90%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6692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satisfaction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269480" y="2697480"/>
            <a:ext cx="1554480" cy="91440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269480" y="27706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7-Day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609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tracking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577840" y="3749040"/>
            <a:ext cx="1554480" cy="91440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577840" y="3822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Layers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depth per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269480" y="3749040"/>
            <a:ext cx="1554480" cy="914400"/>
          </a:xfrm>
          <a:prstGeom prst="rect">
            <a:avLst/>
          </a:prstGeom>
          <a:solidFill>
            <a:srgbClr val="0A224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269480" y="38221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$2-4K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6092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total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378"/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cost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Confidential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86800" y="4800600"/>
            <a:ext cx="3657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378"/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96112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89611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34440" y="11064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Engineering &gt; Prompt Engineering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quality improvement came not from better prompts, but from what context we sent to the LLM. Progressive filtering reduced tokens by 90% while improving quality by 15-20 points. </a:t>
            </a: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concepts of Reduce, Summarize and Context Isolation to avoid context bloat</a:t>
            </a:r>
            <a:endParaRPr lang="en-US" sz="9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96112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" cy="89611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1305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200" b="1" dirty="0">
                <a:solidFill>
                  <a:srgbClr val="00B4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1122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Right-Size Every Model to Its Task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34440" y="2441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agent needs the most powerful model. Deliberate model-to-task mapping (Claude for reasoning, GPT-5-nano for classification, zero LLM for computation) cut costs 85% without sacrificing quality.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96112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4864" cy="8961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2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4440" y="31181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Expert Validation Converts Data into Intelligence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34472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378"/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tells you what happened. Expert interviews tell you what it means and what happens next. Two-stage filtering makes this economically viable at scale ($10-45/month).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1200" b="1" dirty="0">
                <a:solidFill>
                  <a:srgbClr val="00E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Next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920240" cy="32004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920240" cy="27432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Interface on top of recommendations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06040" y="4434840"/>
            <a:ext cx="1920240" cy="32004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606040" y="4434840"/>
            <a:ext cx="1920240" cy="27432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9748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in-house private LLM deployment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4434840"/>
            <a:ext cx="1920240" cy="32004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4434840"/>
            <a:ext cx="1920240" cy="27432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network expansion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(AlphaSense, Tegus, GLG)</a:t>
            </a:r>
            <a:endParaRPr lang="en-US" sz="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20840" y="4434840"/>
            <a:ext cx="1920240" cy="320040"/>
          </a:xfrm>
          <a:prstGeom prst="rect">
            <a:avLst/>
          </a:prstGeom>
          <a:solidFill>
            <a:srgbClr val="153560"/>
          </a:solidFill>
          <a:ln/>
        </p:spPr>
        <p:txBody>
          <a:bodyPr/>
          <a:lstStyle/>
          <a:p>
            <a:pPr defTabSz="914378"/>
            <a:endParaRPr lang="en-IN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720840" y="4434840"/>
            <a:ext cx="1920240" cy="27432"/>
          </a:xfrm>
          <a:prstGeom prst="rect">
            <a:avLst/>
          </a:prstGeom>
          <a:solidFill>
            <a:srgbClr val="00E5D0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1228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</a:t>
            </a:r>
            <a:r>
              <a:rPr lang="en-IN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 Digital Twin Alignment Assessment (across a valid timeline)</a:t>
            </a:r>
            <a:endParaRPr lang="en-US" sz="7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71A33"/>
          </a:solidFill>
          <a:ln/>
        </p:spPr>
        <p:txBody>
          <a:bodyPr/>
          <a:lstStyle/>
          <a:p>
            <a:pPr defTabSz="914378"/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64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dirty="0">
                <a:solidFill>
                  <a:srgbClr val="00E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Blend360.com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75116</TotalTime>
  <Words>2053</Words>
  <Application>Microsoft Office PowerPoint</Application>
  <PresentationFormat>On-screen Show (16:9)</PresentationFormat>
  <Paragraphs>425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Copilot: AI-Powered Investment Research System</dc:title>
  <dc:subject>PptxGenJS Presentation</dc:subject>
  <dc:creator>Rajat Sharma</dc:creator>
  <cp:lastModifiedBy>Rajat Shrivastav</cp:lastModifiedBy>
  <cp:revision>18</cp:revision>
  <dcterms:created xsi:type="dcterms:W3CDTF">2026-02-08T09:31:42Z</dcterms:created>
  <dcterms:modified xsi:type="dcterms:W3CDTF">2026-04-29T06:41:35Z</dcterms:modified>
</cp:coreProperties>
</file>